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370" y="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1015" cy="10287000"/>
          </a:xfrm>
          <a:custGeom>
            <a:avLst/>
            <a:gdLst/>
            <a:ahLst/>
            <a:cxnLst/>
            <a:rect l="l" t="t" r="r" b="b"/>
            <a:pathLst>
              <a:path w="18281015" h="10287000">
                <a:moveTo>
                  <a:pt x="0" y="10287000"/>
                </a:moveTo>
                <a:lnTo>
                  <a:pt x="0" y="0"/>
                </a:lnTo>
                <a:lnTo>
                  <a:pt x="18280809" y="0"/>
                </a:lnTo>
                <a:lnTo>
                  <a:pt x="18280809" y="10287000"/>
                </a:lnTo>
                <a:lnTo>
                  <a:pt x="0" y="1028700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826" y="79226"/>
            <a:ext cx="8416887" cy="939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4449" y="3123604"/>
            <a:ext cx="15442565" cy="6006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03200" y="-266346"/>
            <a:ext cx="18491200" cy="10819691"/>
            <a:chOff x="-76200" y="1"/>
            <a:chExt cx="18288000" cy="1028699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6200" y="1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3253" y="368091"/>
              <a:ext cx="4876799" cy="26193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963399" y="3188346"/>
            <a:ext cx="5420553" cy="321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500"/>
              </a:lnSpc>
              <a:spcBef>
                <a:spcPts val="95"/>
              </a:spcBef>
            </a:pPr>
            <a:r>
              <a:rPr sz="4600" spc="-110" dirty="0"/>
              <a:t>M.</a:t>
            </a:r>
            <a:r>
              <a:rPr sz="4600" spc="-459" dirty="0"/>
              <a:t> </a:t>
            </a:r>
            <a:r>
              <a:rPr sz="4600" spc="-105" dirty="0"/>
              <a:t>Keerthi</a:t>
            </a:r>
            <a:r>
              <a:rPr sz="4600" spc="-465" dirty="0"/>
              <a:t> </a:t>
            </a:r>
            <a:r>
              <a:rPr sz="4600" spc="-25" dirty="0"/>
              <a:t>Sri </a:t>
            </a:r>
            <a:br>
              <a:rPr lang="en-IN" sz="4600" spc="-25" dirty="0"/>
            </a:br>
            <a:r>
              <a:rPr sz="4600" spc="-10" dirty="0"/>
              <a:t>252003007</a:t>
            </a:r>
            <a:r>
              <a:rPr lang="en-IN" sz="4600" spc="-10" dirty="0"/>
              <a:t>9</a:t>
            </a:r>
            <a:br>
              <a:rPr lang="en-IN" sz="4600" spc="-10" dirty="0"/>
            </a:br>
            <a:r>
              <a:rPr lang="en-IN" sz="4600" spc="-10" dirty="0"/>
              <a:t>Cluster:1</a:t>
            </a:r>
            <a:br>
              <a:rPr lang="en-IN" sz="4600" spc="-10" dirty="0"/>
            </a:br>
            <a:r>
              <a:rPr lang="en-IN" sz="4600" spc="-10" dirty="0"/>
              <a:t>Section:4</a:t>
            </a:r>
            <a:endParaRPr sz="4600" dirty="0"/>
          </a:p>
        </p:txBody>
      </p:sp>
      <p:sp>
        <p:nvSpPr>
          <p:cNvPr id="6" name="object 6"/>
          <p:cNvSpPr txBox="1"/>
          <p:nvPr/>
        </p:nvSpPr>
        <p:spPr>
          <a:xfrm>
            <a:off x="-685800" y="3414473"/>
            <a:ext cx="10515600" cy="839397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5356225" marR="712470" algn="ctr">
              <a:lnSpc>
                <a:spcPct val="117100"/>
              </a:lnSpc>
              <a:spcBef>
                <a:spcPts val="915"/>
              </a:spcBef>
            </a:pPr>
            <a:endParaRPr sz="3400" dirty="0">
              <a:latin typeface="Verdana"/>
              <a:cs typeface="Verdan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5145E-D01E-EFFB-941C-53153E965340}"/>
              </a:ext>
            </a:extLst>
          </p:cNvPr>
          <p:cNvSpPr txBox="1"/>
          <p:nvPr/>
        </p:nvSpPr>
        <p:spPr>
          <a:xfrm>
            <a:off x="5410200" y="419100"/>
            <a:ext cx="1193674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Predictive farming</a:t>
            </a:r>
          </a:p>
          <a:p>
            <a:r>
              <a:rPr lang="en-IN" sz="8800" dirty="0"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            </a:t>
            </a:r>
            <a:r>
              <a:rPr lang="en-IN" sz="8800" dirty="0">
                <a:solidFill>
                  <a:srgbClr val="FF0000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</a:rPr>
              <a:t>For Better Yield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EFD2F7-9F4F-FF3D-953D-6DFE4C8188AF}"/>
              </a:ext>
            </a:extLst>
          </p:cNvPr>
          <p:cNvSpPr txBox="1"/>
          <p:nvPr/>
        </p:nvSpPr>
        <p:spPr>
          <a:xfrm>
            <a:off x="289172" y="3701685"/>
            <a:ext cx="47276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 Under the guidance</a:t>
            </a:r>
          </a:p>
          <a:p>
            <a:r>
              <a:rPr lang="en-IN" sz="3600" dirty="0"/>
              <a:t>               of </a:t>
            </a:r>
          </a:p>
          <a:p>
            <a:r>
              <a:rPr lang="en-IN" sz="3600" dirty="0"/>
              <a:t>Supervisor: Surekha</a:t>
            </a:r>
          </a:p>
          <a:p>
            <a:r>
              <a:rPr lang="en-IN" sz="3600" dirty="0"/>
              <a:t>Assistant Professor</a:t>
            </a:r>
          </a:p>
          <a:p>
            <a:r>
              <a:rPr lang="en-IN" sz="3600" dirty="0"/>
              <a:t>Department of CSE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869" y="345588"/>
              <a:ext cx="2628899" cy="14096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75296" y="1933136"/>
            <a:ext cx="4704715" cy="1297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350" spc="-190" dirty="0">
                <a:solidFill>
                  <a:srgbClr val="FFFFFF"/>
                </a:solidFill>
              </a:rPr>
              <a:t>Abstract:</a:t>
            </a:r>
            <a:endParaRPr sz="8350"/>
          </a:p>
        </p:txBody>
      </p:sp>
      <p:sp>
        <p:nvSpPr>
          <p:cNvPr id="6" name="object 6"/>
          <p:cNvSpPr txBox="1"/>
          <p:nvPr/>
        </p:nvSpPr>
        <p:spPr>
          <a:xfrm>
            <a:off x="-9128" y="3271767"/>
            <a:ext cx="18306415" cy="528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599"/>
              </a:lnSpc>
              <a:spcBef>
                <a:spcPts val="95"/>
              </a:spcBef>
            </a:pPr>
            <a:r>
              <a:rPr sz="3700" spc="-60" dirty="0">
                <a:solidFill>
                  <a:srgbClr val="FFFFFF"/>
                </a:solidFill>
                <a:latin typeface="Verdana"/>
                <a:cs typeface="Verdana"/>
              </a:rPr>
              <a:t>Agriculture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8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critical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sector</a:t>
            </a:r>
            <a:r>
              <a:rPr sz="37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30" dirty="0">
                <a:solidFill>
                  <a:srgbClr val="FFFFFF"/>
                </a:solidFill>
                <a:latin typeface="Verdana"/>
                <a:cs typeface="Verdana"/>
              </a:rPr>
              <a:t>economy,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but</a:t>
            </a:r>
            <a:r>
              <a:rPr sz="37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90" dirty="0">
                <a:solidFill>
                  <a:srgbClr val="FFFFFF"/>
                </a:solidFill>
                <a:latin typeface="Verdana"/>
                <a:cs typeface="Verdana"/>
              </a:rPr>
              <a:t>farmers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often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face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challenges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such</a:t>
            </a:r>
            <a:r>
              <a:rPr sz="3700" spc="-3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45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unpredictable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75" dirty="0">
                <a:solidFill>
                  <a:srgbClr val="FFFFFF"/>
                </a:solidFill>
                <a:latin typeface="Verdana"/>
                <a:cs typeface="Verdana"/>
              </a:rPr>
              <a:t>weather,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inefficient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resource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4" dirty="0">
                <a:solidFill>
                  <a:srgbClr val="FFFFFF"/>
                </a:solidFill>
                <a:latin typeface="Verdana"/>
                <a:cs typeface="Verdana"/>
              </a:rPr>
              <a:t>usage,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poor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crop </a:t>
            </a:r>
            <a:r>
              <a:rPr sz="3700" spc="-105" dirty="0">
                <a:solidFill>
                  <a:srgbClr val="FFFFFF"/>
                </a:solidFill>
                <a:latin typeface="Verdana"/>
                <a:cs typeface="Verdana"/>
              </a:rPr>
              <a:t>planning,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5" dirty="0">
                <a:solidFill>
                  <a:srgbClr val="FFFFFF"/>
                </a:solidFill>
                <a:latin typeface="Verdana"/>
                <a:cs typeface="Verdana"/>
              </a:rPr>
              <a:t>which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37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lead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7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0" dirty="0">
                <a:solidFill>
                  <a:srgbClr val="FFFFFF"/>
                </a:solidFill>
                <a:latin typeface="Verdana"/>
                <a:cs typeface="Verdana"/>
              </a:rPr>
              <a:t>reduced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5" dirty="0">
                <a:solidFill>
                  <a:srgbClr val="FFFFFF"/>
                </a:solidFill>
                <a:latin typeface="Verdana"/>
                <a:cs typeface="Verdana"/>
              </a:rPr>
              <a:t>yields</a:t>
            </a:r>
            <a:r>
              <a:rPr sz="37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5" dirty="0">
                <a:solidFill>
                  <a:srgbClr val="FFFFFF"/>
                </a:solidFill>
                <a:latin typeface="Verdana"/>
                <a:cs typeface="Verdana"/>
              </a:rPr>
              <a:t>financial</a:t>
            </a:r>
            <a:r>
              <a:rPr sz="3700" spc="-3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10" dirty="0">
                <a:solidFill>
                  <a:srgbClr val="FFFFFF"/>
                </a:solidFill>
                <a:latin typeface="Verdana"/>
                <a:cs typeface="Verdana"/>
              </a:rPr>
              <a:t>losses.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80" dirty="0">
                <a:solidFill>
                  <a:srgbClr val="FFFFFF"/>
                </a:solidFill>
                <a:latin typeface="Verdana"/>
                <a:cs typeface="Verdana"/>
              </a:rPr>
              <a:t>This</a:t>
            </a:r>
            <a:r>
              <a:rPr sz="3700" spc="-3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project, </a:t>
            </a:r>
            <a:r>
              <a:rPr sz="3700" spc="-35" dirty="0">
                <a:solidFill>
                  <a:srgbClr val="FFFFFF"/>
                </a:solidFill>
                <a:latin typeface="Verdana"/>
                <a:cs typeface="Verdana"/>
              </a:rPr>
              <a:t>"Predictive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50" dirty="0">
                <a:solidFill>
                  <a:srgbClr val="FFFFFF"/>
                </a:solidFill>
                <a:latin typeface="Verdana"/>
                <a:cs typeface="Verdana"/>
              </a:rPr>
              <a:t>Farming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Better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14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3700" spc="-60" dirty="0">
                <a:solidFill>
                  <a:srgbClr val="FFFFFF"/>
                </a:solidFill>
                <a:latin typeface="Verdana"/>
                <a:cs typeface="Verdana"/>
              </a:rPr>
              <a:t>i</a:t>
            </a:r>
            <a:r>
              <a:rPr sz="3700" spc="-70" dirty="0">
                <a:solidFill>
                  <a:srgbClr val="FFFFFF"/>
                </a:solidFill>
                <a:latin typeface="Verdana"/>
                <a:cs typeface="Verdana"/>
              </a:rPr>
              <a:t>e</a:t>
            </a:r>
            <a:r>
              <a:rPr sz="3700" spc="-60" dirty="0">
                <a:solidFill>
                  <a:srgbClr val="FFFFFF"/>
                </a:solidFill>
                <a:latin typeface="Verdana"/>
                <a:cs typeface="Verdana"/>
              </a:rPr>
              <a:t>l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d</a:t>
            </a:r>
            <a:r>
              <a:rPr sz="3700" spc="-114" dirty="0">
                <a:solidFill>
                  <a:srgbClr val="FFFFFF"/>
                </a:solidFill>
                <a:latin typeface="Verdana"/>
                <a:cs typeface="Verdana"/>
              </a:rPr>
              <a:t>s</a:t>
            </a:r>
            <a:r>
              <a:rPr sz="3700" spc="-695" dirty="0">
                <a:solidFill>
                  <a:srgbClr val="FFFFFF"/>
                </a:solidFill>
                <a:latin typeface="Verdana"/>
                <a:cs typeface="Verdana"/>
              </a:rPr>
              <a:t>,</a:t>
            </a:r>
            <a:r>
              <a:rPr sz="3700" spc="-60" dirty="0">
                <a:solidFill>
                  <a:srgbClr val="FFFFFF"/>
                </a:solidFill>
                <a:latin typeface="Verdana"/>
                <a:cs typeface="Verdana"/>
              </a:rPr>
              <a:t>"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40" dirty="0">
                <a:solidFill>
                  <a:srgbClr val="FFFFFF"/>
                </a:solidFill>
                <a:latin typeface="Verdana"/>
                <a:cs typeface="Verdana"/>
              </a:rPr>
              <a:t>aims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0" dirty="0">
                <a:solidFill>
                  <a:srgbClr val="FFFFFF"/>
                </a:solidFill>
                <a:latin typeface="Verdana"/>
                <a:cs typeface="Verdana"/>
              </a:rPr>
              <a:t>address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these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0" dirty="0">
                <a:solidFill>
                  <a:srgbClr val="FFFFFF"/>
                </a:solidFill>
                <a:latin typeface="Verdana"/>
                <a:cs typeface="Verdana"/>
              </a:rPr>
              <a:t>challenges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5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using </a:t>
            </a:r>
            <a:r>
              <a:rPr sz="3700" spc="-30" dirty="0">
                <a:solidFill>
                  <a:srgbClr val="FFFFFF"/>
                </a:solidFill>
                <a:latin typeface="Verdana"/>
                <a:cs typeface="Verdana"/>
              </a:rPr>
              <a:t>historical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35" dirty="0">
                <a:solidFill>
                  <a:srgbClr val="FFFFFF"/>
                </a:solidFill>
                <a:latin typeface="Verdana"/>
                <a:cs typeface="Verdana"/>
              </a:rPr>
              <a:t>real-</a:t>
            </a:r>
            <a:r>
              <a:rPr sz="3700" spc="-85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0" dirty="0">
                <a:solidFill>
                  <a:srgbClr val="FFFFFF"/>
                </a:solidFill>
                <a:latin typeface="Verdana"/>
                <a:cs typeface="Verdana"/>
              </a:rPr>
              <a:t>agricultural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5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5" dirty="0">
                <a:solidFill>
                  <a:srgbClr val="FFFFFF"/>
                </a:solidFill>
                <a:latin typeface="Verdana"/>
                <a:cs typeface="Verdana"/>
              </a:rPr>
              <a:t>provide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30" dirty="0">
                <a:solidFill>
                  <a:srgbClr val="FFFFFF"/>
                </a:solidFill>
                <a:latin typeface="Verdana"/>
                <a:cs typeface="Verdana"/>
              </a:rPr>
              <a:t>actionable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25" dirty="0">
                <a:solidFill>
                  <a:srgbClr val="FFFFFF"/>
                </a:solidFill>
                <a:latin typeface="Verdana"/>
                <a:cs typeface="Verdana"/>
              </a:rPr>
              <a:t>insights.</a:t>
            </a:r>
            <a:r>
              <a:rPr sz="3700" spc="-3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By </a:t>
            </a:r>
            <a:r>
              <a:rPr sz="3700" spc="-125" dirty="0">
                <a:solidFill>
                  <a:srgbClr val="FFFFFF"/>
                </a:solidFill>
                <a:latin typeface="Verdana"/>
                <a:cs typeface="Verdana"/>
              </a:rPr>
              <a:t>analyzing</a:t>
            </a:r>
            <a:r>
              <a:rPr sz="370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factors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0" dirty="0">
                <a:solidFill>
                  <a:srgbClr val="FFFFFF"/>
                </a:solidFill>
                <a:latin typeface="Verdana"/>
                <a:cs typeface="Verdana"/>
              </a:rPr>
              <a:t>such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45" dirty="0">
                <a:solidFill>
                  <a:srgbClr val="FFFFFF"/>
                </a:solidFill>
                <a:latin typeface="Verdana"/>
                <a:cs typeface="Verdana"/>
              </a:rPr>
              <a:t>as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soil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20" dirty="0">
                <a:solidFill>
                  <a:srgbClr val="FFFFFF"/>
                </a:solidFill>
                <a:latin typeface="Verdana"/>
                <a:cs typeface="Verdana"/>
              </a:rPr>
              <a:t>quality,</a:t>
            </a:r>
            <a:r>
              <a:rPr sz="370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90" dirty="0">
                <a:solidFill>
                  <a:srgbClr val="FFFFFF"/>
                </a:solidFill>
                <a:latin typeface="Verdana"/>
                <a:cs typeface="Verdana"/>
              </a:rPr>
              <a:t>weather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95" dirty="0">
                <a:solidFill>
                  <a:srgbClr val="FFFFFF"/>
                </a:solidFill>
                <a:latin typeface="Verdana"/>
                <a:cs typeface="Verdana"/>
              </a:rPr>
              <a:t>patterns,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crop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25" dirty="0">
                <a:solidFill>
                  <a:srgbClr val="FFFFFF"/>
                </a:solidFill>
                <a:latin typeface="Verdana"/>
                <a:cs typeface="Verdana"/>
              </a:rPr>
              <a:t>history,</a:t>
            </a:r>
            <a:r>
              <a:rPr sz="3700" spc="-3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the </a:t>
            </a:r>
            <a:r>
              <a:rPr sz="3700" spc="-110" dirty="0">
                <a:solidFill>
                  <a:srgbClr val="FFFFFF"/>
                </a:solidFill>
                <a:latin typeface="Verdana"/>
                <a:cs typeface="Verdana"/>
              </a:rPr>
              <a:t>system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45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predict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Verdana"/>
                <a:cs typeface="Verdana"/>
              </a:rPr>
              <a:t>potential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50" dirty="0">
                <a:solidFill>
                  <a:srgbClr val="FFFFFF"/>
                </a:solidFill>
                <a:latin typeface="Verdana"/>
                <a:cs typeface="Verdana"/>
              </a:rPr>
              <a:t>outcomes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offer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75" dirty="0">
                <a:solidFill>
                  <a:srgbClr val="FFFFFF"/>
                </a:solidFill>
                <a:latin typeface="Verdana"/>
                <a:cs typeface="Verdana"/>
              </a:rPr>
              <a:t>guidance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dirty="0">
                <a:solidFill>
                  <a:srgbClr val="FFFFFF"/>
                </a:solidFill>
                <a:latin typeface="Verdana"/>
                <a:cs typeface="Verdana"/>
              </a:rPr>
              <a:t>crop</a:t>
            </a:r>
            <a:r>
              <a:rPr sz="3700" spc="-3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Verdana"/>
                <a:cs typeface="Verdana"/>
              </a:rPr>
              <a:t>selection, </a:t>
            </a:r>
            <a:r>
              <a:rPr sz="3700" spc="-105" dirty="0">
                <a:solidFill>
                  <a:srgbClr val="FFFFFF"/>
                </a:solidFill>
                <a:latin typeface="Verdana"/>
                <a:cs typeface="Verdana"/>
              </a:rPr>
              <a:t>irrigation,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65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3700" spc="-3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700" spc="-20" dirty="0">
                <a:solidFill>
                  <a:srgbClr val="FFFFFF"/>
                </a:solidFill>
                <a:latin typeface="Verdana"/>
                <a:cs typeface="Verdana"/>
              </a:rPr>
              <a:t>harvesting.</a:t>
            </a:r>
            <a:endParaRPr sz="3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860182" y="0"/>
            <a:ext cx="5427980" cy="5205095"/>
            <a:chOff x="12860182" y="0"/>
            <a:chExt cx="5427980" cy="5205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60182" y="0"/>
              <a:ext cx="5427817" cy="52046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41700" y="860894"/>
              <a:ext cx="398145" cy="398145"/>
            </a:xfrm>
            <a:custGeom>
              <a:avLst/>
              <a:gdLst/>
              <a:ahLst/>
              <a:cxnLst/>
              <a:rect l="l" t="t" r="r" b="b"/>
              <a:pathLst>
                <a:path w="398144" h="398144">
                  <a:moveTo>
                    <a:pt x="288417" y="200253"/>
                  </a:moveTo>
                  <a:lnTo>
                    <a:pt x="288302" y="199986"/>
                  </a:lnTo>
                  <a:lnTo>
                    <a:pt x="288302" y="199199"/>
                  </a:lnTo>
                  <a:lnTo>
                    <a:pt x="287743" y="198653"/>
                  </a:lnTo>
                  <a:lnTo>
                    <a:pt x="287032" y="196926"/>
                  </a:lnTo>
                  <a:lnTo>
                    <a:pt x="209435" y="119329"/>
                  </a:lnTo>
                  <a:lnTo>
                    <a:pt x="206209" y="116052"/>
                  </a:lnTo>
                  <a:lnTo>
                    <a:pt x="200926" y="116052"/>
                  </a:lnTo>
                  <a:lnTo>
                    <a:pt x="197650" y="119329"/>
                  </a:lnTo>
                  <a:lnTo>
                    <a:pt x="194373" y="122555"/>
                  </a:lnTo>
                  <a:lnTo>
                    <a:pt x="194373" y="127838"/>
                  </a:lnTo>
                  <a:lnTo>
                    <a:pt x="262013" y="195478"/>
                  </a:lnTo>
                  <a:lnTo>
                    <a:pt x="114617" y="195478"/>
                  </a:lnTo>
                  <a:lnTo>
                    <a:pt x="110883" y="199199"/>
                  </a:lnTo>
                  <a:lnTo>
                    <a:pt x="110883" y="208432"/>
                  </a:lnTo>
                  <a:lnTo>
                    <a:pt x="114617" y="212153"/>
                  </a:lnTo>
                  <a:lnTo>
                    <a:pt x="262013" y="212153"/>
                  </a:lnTo>
                  <a:lnTo>
                    <a:pt x="197650" y="276517"/>
                  </a:lnTo>
                  <a:lnTo>
                    <a:pt x="194373" y="279742"/>
                  </a:lnTo>
                  <a:lnTo>
                    <a:pt x="194373" y="285026"/>
                  </a:lnTo>
                  <a:lnTo>
                    <a:pt x="199263" y="289915"/>
                  </a:lnTo>
                  <a:lnTo>
                    <a:pt x="201434" y="290741"/>
                  </a:lnTo>
                  <a:lnTo>
                    <a:pt x="205651" y="290741"/>
                  </a:lnTo>
                  <a:lnTo>
                    <a:pt x="207822" y="289915"/>
                  </a:lnTo>
                  <a:lnTo>
                    <a:pt x="284467" y="213271"/>
                  </a:lnTo>
                  <a:lnTo>
                    <a:pt x="287032" y="210769"/>
                  </a:lnTo>
                  <a:lnTo>
                    <a:pt x="287756" y="208978"/>
                  </a:lnTo>
                  <a:lnTo>
                    <a:pt x="288302" y="208432"/>
                  </a:lnTo>
                  <a:lnTo>
                    <a:pt x="288302" y="207670"/>
                  </a:lnTo>
                  <a:lnTo>
                    <a:pt x="288417" y="207378"/>
                  </a:lnTo>
                  <a:lnTo>
                    <a:pt x="288417" y="200253"/>
                  </a:lnTo>
                  <a:close/>
                </a:path>
                <a:path w="398144" h="398144">
                  <a:moveTo>
                    <a:pt x="397916" y="198983"/>
                  </a:moveTo>
                  <a:lnTo>
                    <a:pt x="392658" y="153416"/>
                  </a:lnTo>
                  <a:lnTo>
                    <a:pt x="381241" y="121526"/>
                  </a:lnTo>
                  <a:lnTo>
                    <a:pt x="381241" y="198983"/>
                  </a:lnTo>
                  <a:lnTo>
                    <a:pt x="374726" y="247396"/>
                  </a:lnTo>
                  <a:lnTo>
                    <a:pt x="356336" y="290931"/>
                  </a:lnTo>
                  <a:lnTo>
                    <a:pt x="327812" y="327837"/>
                  </a:lnTo>
                  <a:lnTo>
                    <a:pt x="290918" y="356362"/>
                  </a:lnTo>
                  <a:lnTo>
                    <a:pt x="247396" y="374764"/>
                  </a:lnTo>
                  <a:lnTo>
                    <a:pt x="198983" y="381292"/>
                  </a:lnTo>
                  <a:lnTo>
                    <a:pt x="150571" y="374764"/>
                  </a:lnTo>
                  <a:lnTo>
                    <a:pt x="107035" y="356362"/>
                  </a:lnTo>
                  <a:lnTo>
                    <a:pt x="70129" y="327837"/>
                  </a:lnTo>
                  <a:lnTo>
                    <a:pt x="41605" y="290931"/>
                  </a:lnTo>
                  <a:lnTo>
                    <a:pt x="23202" y="247396"/>
                  </a:lnTo>
                  <a:lnTo>
                    <a:pt x="16675" y="198983"/>
                  </a:lnTo>
                  <a:lnTo>
                    <a:pt x="23202" y="150558"/>
                  </a:lnTo>
                  <a:lnTo>
                    <a:pt x="41605" y="107022"/>
                  </a:lnTo>
                  <a:lnTo>
                    <a:pt x="70129" y="70116"/>
                  </a:lnTo>
                  <a:lnTo>
                    <a:pt x="107035" y="41592"/>
                  </a:lnTo>
                  <a:lnTo>
                    <a:pt x="150571" y="23190"/>
                  </a:lnTo>
                  <a:lnTo>
                    <a:pt x="198983" y="16675"/>
                  </a:lnTo>
                  <a:lnTo>
                    <a:pt x="247383" y="23190"/>
                  </a:lnTo>
                  <a:lnTo>
                    <a:pt x="290906" y="41592"/>
                  </a:lnTo>
                  <a:lnTo>
                    <a:pt x="327799" y="70116"/>
                  </a:lnTo>
                  <a:lnTo>
                    <a:pt x="356323" y="107022"/>
                  </a:lnTo>
                  <a:lnTo>
                    <a:pt x="374713" y="150558"/>
                  </a:lnTo>
                  <a:lnTo>
                    <a:pt x="381241" y="198983"/>
                  </a:lnTo>
                  <a:lnTo>
                    <a:pt x="381241" y="121526"/>
                  </a:lnTo>
                  <a:lnTo>
                    <a:pt x="354164" y="74599"/>
                  </a:lnTo>
                  <a:lnTo>
                    <a:pt x="323342" y="43764"/>
                  </a:lnTo>
                  <a:lnTo>
                    <a:pt x="286410" y="20256"/>
                  </a:lnTo>
                  <a:lnTo>
                    <a:pt x="276402" y="16675"/>
                  </a:lnTo>
                  <a:lnTo>
                    <a:pt x="244551" y="5257"/>
                  </a:lnTo>
                  <a:lnTo>
                    <a:pt x="198983" y="0"/>
                  </a:lnTo>
                  <a:lnTo>
                    <a:pt x="153441" y="5257"/>
                  </a:lnTo>
                  <a:lnTo>
                    <a:pt x="111582" y="20256"/>
                  </a:lnTo>
                  <a:lnTo>
                    <a:pt x="74637" y="43764"/>
                  </a:lnTo>
                  <a:lnTo>
                    <a:pt x="43802" y="74599"/>
                  </a:lnTo>
                  <a:lnTo>
                    <a:pt x="20269" y="111544"/>
                  </a:lnTo>
                  <a:lnTo>
                    <a:pt x="5270" y="153416"/>
                  </a:lnTo>
                  <a:lnTo>
                    <a:pt x="0" y="198983"/>
                  </a:lnTo>
                  <a:lnTo>
                    <a:pt x="5270" y="244525"/>
                  </a:lnTo>
                  <a:lnTo>
                    <a:pt x="20256" y="286372"/>
                  </a:lnTo>
                  <a:lnTo>
                    <a:pt x="43776" y="323316"/>
                  </a:lnTo>
                  <a:lnTo>
                    <a:pt x="74612" y="354139"/>
                  </a:lnTo>
                  <a:lnTo>
                    <a:pt x="111556" y="377647"/>
                  </a:lnTo>
                  <a:lnTo>
                    <a:pt x="153416" y="392645"/>
                  </a:lnTo>
                  <a:lnTo>
                    <a:pt x="198996" y="397903"/>
                  </a:lnTo>
                  <a:lnTo>
                    <a:pt x="199466" y="397903"/>
                  </a:lnTo>
                  <a:lnTo>
                    <a:pt x="245021" y="392645"/>
                  </a:lnTo>
                  <a:lnTo>
                    <a:pt x="244690" y="392645"/>
                  </a:lnTo>
                  <a:lnTo>
                    <a:pt x="276390" y="381292"/>
                  </a:lnTo>
                  <a:lnTo>
                    <a:pt x="323367" y="354139"/>
                  </a:lnTo>
                  <a:lnTo>
                    <a:pt x="354177" y="323316"/>
                  </a:lnTo>
                  <a:lnTo>
                    <a:pt x="377672" y="286372"/>
                  </a:lnTo>
                  <a:lnTo>
                    <a:pt x="392645" y="244525"/>
                  </a:lnTo>
                  <a:lnTo>
                    <a:pt x="397916" y="1989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3316" y="1146920"/>
            <a:ext cx="17360900" cy="734060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sz="3400" spc="-270" dirty="0">
                <a:latin typeface="Arial Black"/>
                <a:cs typeface="Arial Black"/>
              </a:rPr>
              <a:t>Existing</a:t>
            </a:r>
            <a:r>
              <a:rPr sz="3400" spc="-310" dirty="0">
                <a:latin typeface="Arial Black"/>
                <a:cs typeface="Arial Black"/>
              </a:rPr>
              <a:t> </a:t>
            </a:r>
            <a:r>
              <a:rPr sz="3400" spc="-85" dirty="0">
                <a:latin typeface="Arial Black"/>
                <a:cs typeface="Arial Black"/>
              </a:rPr>
              <a:t>System:</a:t>
            </a:r>
            <a:endParaRPr sz="3400">
              <a:latin typeface="Arial Black"/>
              <a:cs typeface="Arial Black"/>
            </a:endParaRPr>
          </a:p>
          <a:p>
            <a:pPr marL="26670" marR="19050" indent="-635" algn="ctr">
              <a:lnSpc>
                <a:spcPct val="117600"/>
              </a:lnSpc>
              <a:spcBef>
                <a:spcPts val="5"/>
              </a:spcBef>
            </a:pPr>
            <a:r>
              <a:rPr sz="3400" spc="-229" dirty="0">
                <a:latin typeface="Verdana"/>
                <a:cs typeface="Verdana"/>
              </a:rPr>
              <a:t>In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the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current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50" dirty="0">
                <a:latin typeface="Verdana"/>
                <a:cs typeface="Verdana"/>
              </a:rPr>
              <a:t>agricultural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120" dirty="0">
                <a:latin typeface="Verdana"/>
                <a:cs typeface="Verdana"/>
              </a:rPr>
              <a:t>system,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farmers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mostly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depend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on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traditional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farming </a:t>
            </a:r>
            <a:r>
              <a:rPr sz="3400" spc="-75" dirty="0">
                <a:latin typeface="Verdana"/>
                <a:cs typeface="Verdana"/>
              </a:rPr>
              <a:t>methods,</a:t>
            </a:r>
            <a:r>
              <a:rPr sz="3400" spc="-285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personal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spc="-90" dirty="0">
                <a:latin typeface="Verdana"/>
                <a:cs typeface="Verdana"/>
              </a:rPr>
              <a:t>experience,</a:t>
            </a:r>
            <a:r>
              <a:rPr sz="3400" spc="-285" dirty="0">
                <a:latin typeface="Verdana"/>
                <a:cs typeface="Verdana"/>
              </a:rPr>
              <a:t> </a:t>
            </a:r>
            <a:r>
              <a:rPr sz="3400" spc="-45" dirty="0">
                <a:latin typeface="Verdana"/>
                <a:cs typeface="Verdana"/>
              </a:rPr>
              <a:t>and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local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spc="-85" dirty="0">
                <a:latin typeface="Verdana"/>
                <a:cs typeface="Verdana"/>
              </a:rPr>
              <a:t>knowledge</a:t>
            </a:r>
            <a:r>
              <a:rPr sz="3400" spc="-2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to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decide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which</a:t>
            </a:r>
            <a:r>
              <a:rPr sz="3400" spc="-28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crops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to</a:t>
            </a:r>
            <a:r>
              <a:rPr sz="3400" spc="-280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grow.</a:t>
            </a:r>
            <a:endParaRPr sz="3400">
              <a:latin typeface="Verdana"/>
              <a:cs typeface="Verdana"/>
            </a:endParaRPr>
          </a:p>
          <a:p>
            <a:pPr marL="530225" marR="523240" algn="ctr">
              <a:lnSpc>
                <a:spcPct val="117600"/>
              </a:lnSpc>
            </a:pPr>
            <a:r>
              <a:rPr sz="3400" dirty="0">
                <a:latin typeface="Verdana"/>
                <a:cs typeface="Verdana"/>
              </a:rPr>
              <a:t>Crop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selection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60" dirty="0">
                <a:latin typeface="Verdana"/>
                <a:cs typeface="Verdana"/>
              </a:rPr>
              <a:t>is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often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influenced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by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65" dirty="0">
                <a:latin typeface="Verdana"/>
                <a:cs typeface="Verdana"/>
              </a:rPr>
              <a:t>seasonal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patterns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or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advice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from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nearby </a:t>
            </a:r>
            <a:r>
              <a:rPr sz="3400" spc="-70" dirty="0">
                <a:latin typeface="Verdana"/>
                <a:cs typeface="Verdana"/>
              </a:rPr>
              <a:t>farmers</a:t>
            </a:r>
            <a:r>
              <a:rPr sz="3400" spc="-320" dirty="0">
                <a:latin typeface="Verdana"/>
                <a:cs typeface="Verdana"/>
              </a:rPr>
              <a:t> </a:t>
            </a:r>
            <a:r>
              <a:rPr sz="3400" spc="-60" dirty="0">
                <a:latin typeface="Verdana"/>
                <a:cs typeface="Verdana"/>
              </a:rPr>
              <a:t>rather</a:t>
            </a:r>
            <a:r>
              <a:rPr sz="3400" spc="-315" dirty="0">
                <a:latin typeface="Verdana"/>
                <a:cs typeface="Verdana"/>
              </a:rPr>
              <a:t> </a:t>
            </a:r>
            <a:r>
              <a:rPr sz="3400" spc="-50" dirty="0">
                <a:latin typeface="Verdana"/>
                <a:cs typeface="Verdana"/>
              </a:rPr>
              <a:t>than</a:t>
            </a:r>
            <a:r>
              <a:rPr sz="3400" spc="-320" dirty="0">
                <a:latin typeface="Verdana"/>
                <a:cs typeface="Verdana"/>
              </a:rPr>
              <a:t> </a:t>
            </a:r>
            <a:r>
              <a:rPr sz="3400" spc="-50" dirty="0">
                <a:latin typeface="Verdana"/>
                <a:cs typeface="Verdana"/>
              </a:rPr>
              <a:t>data</a:t>
            </a:r>
            <a:r>
              <a:rPr sz="3400" spc="-31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analysis.</a:t>
            </a:r>
            <a:endParaRPr sz="3400">
              <a:latin typeface="Verdana"/>
              <a:cs typeface="Verdana"/>
            </a:endParaRPr>
          </a:p>
          <a:p>
            <a:pPr marL="12700" marR="5080" indent="-635" algn="ctr">
              <a:lnSpc>
                <a:spcPct val="117600"/>
              </a:lnSpc>
              <a:spcBef>
                <a:spcPts val="5"/>
              </a:spcBef>
            </a:pPr>
            <a:r>
              <a:rPr sz="3400" spc="-130" dirty="0">
                <a:latin typeface="Verdana"/>
                <a:cs typeface="Verdana"/>
              </a:rPr>
              <a:t>However,</a:t>
            </a:r>
            <a:r>
              <a:rPr sz="3400" spc="-315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this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approach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95" dirty="0">
                <a:latin typeface="Verdana"/>
                <a:cs typeface="Verdana"/>
              </a:rPr>
              <a:t>has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75" dirty="0">
                <a:latin typeface="Verdana"/>
                <a:cs typeface="Verdana"/>
              </a:rPr>
              <a:t>several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limitations.</a:t>
            </a:r>
            <a:r>
              <a:rPr sz="3400" spc="-315" dirty="0">
                <a:latin typeface="Verdana"/>
                <a:cs typeface="Verdana"/>
              </a:rPr>
              <a:t> </a:t>
            </a:r>
            <a:r>
              <a:rPr sz="3400" spc="-100" dirty="0">
                <a:latin typeface="Verdana"/>
                <a:cs typeface="Verdana"/>
              </a:rPr>
              <a:t>Farmers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150" dirty="0">
                <a:latin typeface="Verdana"/>
                <a:cs typeface="Verdana"/>
              </a:rPr>
              <a:t>may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not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105" dirty="0">
                <a:latin typeface="Verdana"/>
                <a:cs typeface="Verdana"/>
              </a:rPr>
              <a:t>have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access</a:t>
            </a:r>
            <a:r>
              <a:rPr sz="3400" spc="-31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to </a:t>
            </a:r>
            <a:r>
              <a:rPr sz="3400" spc="-35" dirty="0">
                <a:latin typeface="Verdana"/>
                <a:cs typeface="Verdana"/>
              </a:rPr>
              <a:t>accurate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information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about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soil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conditions,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rainfall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patterns,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or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temperature </a:t>
            </a:r>
            <a:r>
              <a:rPr sz="3400" spc="-90" dirty="0">
                <a:latin typeface="Verdana"/>
                <a:cs typeface="Verdana"/>
              </a:rPr>
              <a:t>variations,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which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can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lead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to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poor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crop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selection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45" dirty="0">
                <a:latin typeface="Verdana"/>
                <a:cs typeface="Verdana"/>
              </a:rPr>
              <a:t>and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reduced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80" dirty="0">
                <a:latin typeface="Verdana"/>
                <a:cs typeface="Verdana"/>
              </a:rPr>
              <a:t>yields.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Additionally, </a:t>
            </a:r>
            <a:r>
              <a:rPr sz="3400" spc="-25" dirty="0">
                <a:latin typeface="Verdana"/>
                <a:cs typeface="Verdana"/>
              </a:rPr>
              <a:t>the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75" dirty="0">
                <a:latin typeface="Verdana"/>
                <a:cs typeface="Verdana"/>
              </a:rPr>
              <a:t>lack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of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digital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tools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45" dirty="0">
                <a:latin typeface="Verdana"/>
                <a:cs typeface="Verdana"/>
              </a:rPr>
              <a:t>and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predictive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75" dirty="0">
                <a:latin typeface="Verdana"/>
                <a:cs typeface="Verdana"/>
              </a:rPr>
              <a:t>analysis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165" dirty="0">
                <a:latin typeface="Verdana"/>
                <a:cs typeface="Verdana"/>
              </a:rPr>
              <a:t>makes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it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45" dirty="0">
                <a:latin typeface="Verdana"/>
                <a:cs typeface="Verdana"/>
              </a:rPr>
              <a:t>difficult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for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70" dirty="0">
                <a:latin typeface="Verdana"/>
                <a:cs typeface="Verdana"/>
              </a:rPr>
              <a:t>farmers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to</a:t>
            </a:r>
            <a:r>
              <a:rPr sz="3400" spc="-310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plan </a:t>
            </a:r>
            <a:r>
              <a:rPr sz="3400" spc="-30" dirty="0">
                <a:latin typeface="Verdana"/>
                <a:cs typeface="Verdana"/>
              </a:rPr>
              <a:t>their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90" dirty="0">
                <a:latin typeface="Verdana"/>
                <a:cs typeface="Verdana"/>
              </a:rPr>
              <a:t>farming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30" dirty="0">
                <a:latin typeface="Verdana"/>
                <a:cs typeface="Verdana"/>
              </a:rPr>
              <a:t>activities</a:t>
            </a:r>
            <a:r>
              <a:rPr sz="3400" spc="-29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effectively.</a:t>
            </a:r>
            <a:endParaRPr sz="3400">
              <a:latin typeface="Verdana"/>
              <a:cs typeface="Verdana"/>
            </a:endParaRPr>
          </a:p>
          <a:p>
            <a:pPr marL="59055" marR="51435" algn="ctr">
              <a:lnSpc>
                <a:spcPct val="117600"/>
              </a:lnSpc>
            </a:pPr>
            <a:r>
              <a:rPr sz="3400" spc="-55" dirty="0">
                <a:latin typeface="Verdana"/>
                <a:cs typeface="Verdana"/>
              </a:rPr>
              <a:t>As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150" dirty="0">
                <a:latin typeface="Verdana"/>
                <a:cs typeface="Verdana"/>
              </a:rPr>
              <a:t>a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65" dirty="0">
                <a:latin typeface="Verdana"/>
                <a:cs typeface="Verdana"/>
              </a:rPr>
              <a:t>result,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5" dirty="0">
                <a:latin typeface="Verdana"/>
                <a:cs typeface="Verdana"/>
              </a:rPr>
              <a:t>the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100" dirty="0">
                <a:latin typeface="Verdana"/>
                <a:cs typeface="Verdana"/>
              </a:rPr>
              <a:t>existing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85" dirty="0">
                <a:latin typeface="Verdana"/>
                <a:cs typeface="Verdana"/>
              </a:rPr>
              <a:t>system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often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35" dirty="0">
                <a:latin typeface="Verdana"/>
                <a:cs typeface="Verdana"/>
              </a:rPr>
              <a:t>leads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to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inefficient</a:t>
            </a:r>
            <a:r>
              <a:rPr sz="3400" spc="-300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resource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65" dirty="0">
                <a:latin typeface="Verdana"/>
                <a:cs typeface="Verdana"/>
              </a:rPr>
              <a:t>utilization,</a:t>
            </a:r>
            <a:r>
              <a:rPr sz="3400" spc="-305" dirty="0">
                <a:latin typeface="Verdana"/>
                <a:cs typeface="Verdana"/>
              </a:rPr>
              <a:t> </a:t>
            </a:r>
            <a:r>
              <a:rPr sz="3400" spc="-20" dirty="0">
                <a:latin typeface="Verdana"/>
                <a:cs typeface="Verdana"/>
              </a:rPr>
              <a:t>lower </a:t>
            </a:r>
            <a:r>
              <a:rPr sz="3400" spc="-50" dirty="0">
                <a:latin typeface="Verdana"/>
                <a:cs typeface="Verdana"/>
              </a:rPr>
              <a:t>productivity,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spc="-45" dirty="0">
                <a:latin typeface="Verdana"/>
                <a:cs typeface="Verdana"/>
              </a:rPr>
              <a:t>and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spc="-40" dirty="0">
                <a:latin typeface="Verdana"/>
                <a:cs typeface="Verdana"/>
              </a:rPr>
              <a:t>increased</a:t>
            </a:r>
            <a:r>
              <a:rPr sz="3400" spc="-285" dirty="0">
                <a:latin typeface="Verdana"/>
                <a:cs typeface="Verdana"/>
              </a:rPr>
              <a:t> </a:t>
            </a:r>
            <a:r>
              <a:rPr sz="3400" spc="-120" dirty="0">
                <a:latin typeface="Verdana"/>
                <a:cs typeface="Verdana"/>
              </a:rPr>
              <a:t>risk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spc="70" dirty="0">
                <a:latin typeface="Verdana"/>
                <a:cs typeface="Verdana"/>
              </a:rPr>
              <a:t>of</a:t>
            </a:r>
            <a:r>
              <a:rPr sz="3400" spc="-290" dirty="0">
                <a:latin typeface="Verdana"/>
                <a:cs typeface="Verdana"/>
              </a:rPr>
              <a:t> </a:t>
            </a:r>
            <a:r>
              <a:rPr sz="3400" dirty="0">
                <a:latin typeface="Verdana"/>
                <a:cs typeface="Verdana"/>
              </a:rPr>
              <a:t>crop</a:t>
            </a:r>
            <a:r>
              <a:rPr sz="3400" spc="-285" dirty="0">
                <a:latin typeface="Verdana"/>
                <a:cs typeface="Verdana"/>
              </a:rPr>
              <a:t> </a:t>
            </a:r>
            <a:r>
              <a:rPr sz="3400" spc="-10" dirty="0">
                <a:latin typeface="Verdana"/>
                <a:cs typeface="Verdana"/>
              </a:rPr>
              <a:t>failure.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7D71F7B0-68F3-806F-0CCE-A1210B29696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" y="266733"/>
            <a:ext cx="3031947" cy="14313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5F4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679917" cy="547560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181798" y="1638058"/>
            <a:ext cx="348742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85" dirty="0">
                <a:latin typeface="Arial Black"/>
                <a:cs typeface="Arial Black"/>
              </a:rPr>
              <a:t>Proposed</a:t>
            </a:r>
            <a:r>
              <a:rPr sz="3100" spc="-254" dirty="0">
                <a:latin typeface="Arial Black"/>
                <a:cs typeface="Arial Black"/>
              </a:rPr>
              <a:t> </a:t>
            </a:r>
            <a:r>
              <a:rPr sz="3100" spc="-204" dirty="0">
                <a:latin typeface="Arial Black"/>
                <a:cs typeface="Arial Black"/>
              </a:rPr>
              <a:t>System:</a:t>
            </a:r>
            <a:endParaRPr sz="310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358" y="2110460"/>
            <a:ext cx="17802225" cy="600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" marR="184150" algn="ctr">
              <a:lnSpc>
                <a:spcPct val="114900"/>
              </a:lnSpc>
              <a:spcBef>
                <a:spcPts val="100"/>
              </a:spcBef>
            </a:pPr>
            <a:r>
              <a:rPr sz="3100" spc="-95" dirty="0">
                <a:latin typeface="Verdana"/>
                <a:cs typeface="Verdana"/>
              </a:rPr>
              <a:t>The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proposed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30" dirty="0">
                <a:latin typeface="Verdana"/>
                <a:cs typeface="Verdana"/>
              </a:rPr>
              <a:t>system,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Predictive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30" dirty="0">
                <a:latin typeface="Verdana"/>
                <a:cs typeface="Verdana"/>
              </a:rPr>
              <a:t>Farming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for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35" dirty="0">
                <a:latin typeface="Verdana"/>
                <a:cs typeface="Verdana"/>
              </a:rPr>
              <a:t>Better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80" dirty="0">
                <a:latin typeface="Verdana"/>
                <a:cs typeface="Verdana"/>
              </a:rPr>
              <a:t>Yields,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60" dirty="0">
                <a:latin typeface="Verdana"/>
                <a:cs typeface="Verdana"/>
              </a:rPr>
              <a:t>is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55" dirty="0">
                <a:latin typeface="Verdana"/>
                <a:cs typeface="Verdana"/>
              </a:rPr>
              <a:t>a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10" dirty="0">
                <a:latin typeface="Verdana"/>
                <a:cs typeface="Verdana"/>
              </a:rPr>
              <a:t>web-</a:t>
            </a:r>
            <a:r>
              <a:rPr sz="3100" spc="-55" dirty="0">
                <a:latin typeface="Verdana"/>
                <a:cs typeface="Verdana"/>
              </a:rPr>
              <a:t>based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application </a:t>
            </a:r>
            <a:r>
              <a:rPr sz="3100" spc="-70" dirty="0">
                <a:latin typeface="Verdana"/>
                <a:cs typeface="Verdana"/>
              </a:rPr>
              <a:t>designed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to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75" dirty="0">
                <a:latin typeface="Verdana"/>
                <a:cs typeface="Verdana"/>
              </a:rPr>
              <a:t>assist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80" dirty="0">
                <a:latin typeface="Verdana"/>
                <a:cs typeface="Verdana"/>
              </a:rPr>
              <a:t>farmers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in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170" dirty="0">
                <a:latin typeface="Verdana"/>
                <a:cs typeface="Verdana"/>
              </a:rPr>
              <a:t>making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25" dirty="0">
                <a:latin typeface="Verdana"/>
                <a:cs typeface="Verdana"/>
              </a:rPr>
              <a:t>better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60" dirty="0">
                <a:latin typeface="Verdana"/>
                <a:cs typeface="Verdana"/>
              </a:rPr>
              <a:t>agricultural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30" dirty="0">
                <a:latin typeface="Verdana"/>
                <a:cs typeface="Verdana"/>
              </a:rPr>
              <a:t>decisions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105" dirty="0">
                <a:latin typeface="Verdana"/>
                <a:cs typeface="Verdana"/>
              </a:rPr>
              <a:t>using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110" dirty="0">
                <a:latin typeface="Verdana"/>
                <a:cs typeface="Verdana"/>
              </a:rPr>
              <a:t>data-</a:t>
            </a:r>
            <a:r>
              <a:rPr sz="3100" spc="-55" dirty="0">
                <a:latin typeface="Verdana"/>
                <a:cs typeface="Verdana"/>
              </a:rPr>
              <a:t>driven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analysis.</a:t>
            </a:r>
            <a:endParaRPr sz="3100">
              <a:latin typeface="Verdana"/>
              <a:cs typeface="Verdana"/>
            </a:endParaRPr>
          </a:p>
          <a:p>
            <a:pPr marL="12700" marR="5080" algn="ctr">
              <a:lnSpc>
                <a:spcPct val="114900"/>
              </a:lnSpc>
            </a:pPr>
            <a:r>
              <a:rPr sz="3100" spc="-95" dirty="0">
                <a:latin typeface="Verdana"/>
                <a:cs typeface="Verdana"/>
              </a:rPr>
              <a:t>The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95" dirty="0">
                <a:latin typeface="Verdana"/>
                <a:cs typeface="Verdana"/>
              </a:rPr>
              <a:t>system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collects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important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95" dirty="0">
                <a:latin typeface="Verdana"/>
                <a:cs typeface="Verdana"/>
              </a:rPr>
              <a:t>farming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inputs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such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125" dirty="0">
                <a:latin typeface="Verdana"/>
                <a:cs typeface="Verdana"/>
              </a:rPr>
              <a:t>as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soil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100" dirty="0">
                <a:latin typeface="Verdana"/>
                <a:cs typeface="Verdana"/>
              </a:rPr>
              <a:t>type,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rainfall,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75" dirty="0">
                <a:latin typeface="Verdana"/>
                <a:cs typeface="Verdana"/>
              </a:rPr>
              <a:t>temperature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from </a:t>
            </a:r>
            <a:r>
              <a:rPr sz="3100" spc="-45" dirty="0">
                <a:latin typeface="Verdana"/>
                <a:cs typeface="Verdana"/>
              </a:rPr>
              <a:t>the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80" dirty="0">
                <a:latin typeface="Verdana"/>
                <a:cs typeface="Verdana"/>
              </a:rPr>
              <a:t>user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processes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this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information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to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recommend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the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most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suitable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crop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for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cultivation.</a:t>
            </a:r>
            <a:endParaRPr sz="3100">
              <a:latin typeface="Verdana"/>
              <a:cs typeface="Verdana"/>
            </a:endParaRPr>
          </a:p>
          <a:p>
            <a:pPr marL="22225" marR="14604" indent="-635" algn="ctr">
              <a:lnSpc>
                <a:spcPct val="114900"/>
              </a:lnSpc>
            </a:pPr>
            <a:r>
              <a:rPr sz="3100" spc="-95" dirty="0">
                <a:latin typeface="Verdana"/>
                <a:cs typeface="Verdana"/>
              </a:rPr>
              <a:t>The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25" dirty="0">
                <a:latin typeface="Verdana"/>
                <a:cs typeface="Verdana"/>
              </a:rPr>
              <a:t>application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60" dirty="0">
                <a:latin typeface="Verdana"/>
                <a:cs typeface="Verdana"/>
              </a:rPr>
              <a:t>is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25" dirty="0">
                <a:latin typeface="Verdana"/>
                <a:cs typeface="Verdana"/>
              </a:rPr>
              <a:t>developed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05" dirty="0">
                <a:latin typeface="Verdana"/>
                <a:cs typeface="Verdana"/>
              </a:rPr>
              <a:t>using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HTML,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215" dirty="0">
                <a:latin typeface="Verdana"/>
                <a:cs typeface="Verdana"/>
              </a:rPr>
              <a:t>CSS,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55" dirty="0">
                <a:latin typeface="Verdana"/>
                <a:cs typeface="Verdana"/>
              </a:rPr>
              <a:t>JavaScript,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60" dirty="0">
                <a:latin typeface="Verdana"/>
                <a:cs typeface="Verdana"/>
              </a:rPr>
              <a:t>providing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55" dirty="0">
                <a:latin typeface="Verdana"/>
                <a:cs typeface="Verdana"/>
              </a:rPr>
              <a:t>a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55" dirty="0">
                <a:latin typeface="Verdana"/>
                <a:cs typeface="Verdana"/>
              </a:rPr>
              <a:t>simple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user- </a:t>
            </a:r>
            <a:r>
              <a:rPr sz="3100" spc="-25" dirty="0">
                <a:latin typeface="Verdana"/>
                <a:cs typeface="Verdana"/>
              </a:rPr>
              <a:t>friendly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70" dirty="0">
                <a:latin typeface="Verdana"/>
                <a:cs typeface="Verdana"/>
              </a:rPr>
              <a:t>interface.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80" dirty="0">
                <a:latin typeface="Verdana"/>
                <a:cs typeface="Verdana"/>
              </a:rPr>
              <a:t>It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90" dirty="0">
                <a:latin typeface="Verdana"/>
                <a:cs typeface="Verdana"/>
              </a:rPr>
              <a:t>uses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35" dirty="0">
                <a:latin typeface="Verdana"/>
                <a:cs typeface="Verdana"/>
              </a:rPr>
              <a:t>basic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70" dirty="0">
                <a:latin typeface="Verdana"/>
                <a:cs typeface="Verdana"/>
              </a:rPr>
              <a:t>data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structures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such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25" dirty="0">
                <a:latin typeface="Verdana"/>
                <a:cs typeface="Verdana"/>
              </a:rPr>
              <a:t>as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114" dirty="0">
                <a:latin typeface="Verdana"/>
                <a:cs typeface="Verdana"/>
              </a:rPr>
              <a:t>arrays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objects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to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10" dirty="0">
                <a:latin typeface="Verdana"/>
                <a:cs typeface="Verdana"/>
              </a:rPr>
              <a:t>analyze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the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input </a:t>
            </a:r>
            <a:r>
              <a:rPr sz="3100" spc="-70" dirty="0">
                <a:latin typeface="Verdana"/>
                <a:cs typeface="Verdana"/>
              </a:rPr>
              <a:t>data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05" dirty="0">
                <a:latin typeface="Verdana"/>
                <a:cs typeface="Verdana"/>
              </a:rPr>
              <a:t>generate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crop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predictions.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95" dirty="0">
                <a:latin typeface="Verdana"/>
                <a:cs typeface="Verdana"/>
              </a:rPr>
              <a:t>The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95" dirty="0">
                <a:latin typeface="Verdana"/>
                <a:cs typeface="Verdana"/>
              </a:rPr>
              <a:t>system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also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30" dirty="0">
                <a:latin typeface="Verdana"/>
                <a:cs typeface="Verdana"/>
              </a:rPr>
              <a:t>supports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35" dirty="0">
                <a:latin typeface="Verdana"/>
                <a:cs typeface="Verdana"/>
              </a:rPr>
              <a:t>multiple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25" dirty="0">
                <a:latin typeface="Verdana"/>
                <a:cs typeface="Verdana"/>
              </a:rPr>
              <a:t>languages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so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that </a:t>
            </a:r>
            <a:r>
              <a:rPr sz="3100" spc="-80" dirty="0">
                <a:latin typeface="Verdana"/>
                <a:cs typeface="Verdana"/>
              </a:rPr>
              <a:t>farmers</a:t>
            </a:r>
            <a:r>
              <a:rPr sz="3100" spc="-305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from</a:t>
            </a:r>
            <a:r>
              <a:rPr sz="3100" spc="-305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different</a:t>
            </a:r>
            <a:r>
              <a:rPr sz="3100" spc="-305" dirty="0">
                <a:latin typeface="Verdana"/>
                <a:cs typeface="Verdana"/>
              </a:rPr>
              <a:t> </a:t>
            </a:r>
            <a:r>
              <a:rPr sz="3100" spc="-90" dirty="0">
                <a:latin typeface="Verdana"/>
                <a:cs typeface="Verdana"/>
              </a:rPr>
              <a:t>regions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can</a:t>
            </a:r>
            <a:r>
              <a:rPr sz="3100" spc="-305" dirty="0">
                <a:latin typeface="Verdana"/>
                <a:cs typeface="Verdana"/>
              </a:rPr>
              <a:t> </a:t>
            </a:r>
            <a:r>
              <a:rPr sz="3100" spc="-70" dirty="0">
                <a:latin typeface="Verdana"/>
                <a:cs typeface="Verdana"/>
              </a:rPr>
              <a:t>easily</a:t>
            </a:r>
            <a:r>
              <a:rPr sz="3100" spc="-305" dirty="0">
                <a:latin typeface="Verdana"/>
                <a:cs typeface="Verdana"/>
              </a:rPr>
              <a:t> </a:t>
            </a:r>
            <a:r>
              <a:rPr sz="3100" spc="-90" dirty="0">
                <a:latin typeface="Verdana"/>
                <a:cs typeface="Verdana"/>
              </a:rPr>
              <a:t>use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the</a:t>
            </a:r>
            <a:r>
              <a:rPr sz="3100" spc="-305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platform.</a:t>
            </a:r>
            <a:endParaRPr sz="3100">
              <a:latin typeface="Verdana"/>
              <a:cs typeface="Verdana"/>
            </a:endParaRPr>
          </a:p>
          <a:p>
            <a:pPr marL="212090" marR="205104" indent="-635" algn="ctr">
              <a:lnSpc>
                <a:spcPct val="110900"/>
              </a:lnSpc>
              <a:spcBef>
                <a:spcPts val="150"/>
              </a:spcBef>
            </a:pPr>
            <a:r>
              <a:rPr sz="3100" spc="-55" dirty="0">
                <a:latin typeface="Verdana"/>
                <a:cs typeface="Verdana"/>
              </a:rPr>
              <a:t>By</a:t>
            </a:r>
            <a:r>
              <a:rPr sz="3100" spc="-290" dirty="0">
                <a:latin typeface="Verdana"/>
                <a:cs typeface="Verdana"/>
              </a:rPr>
              <a:t> </a:t>
            </a:r>
            <a:r>
              <a:rPr sz="3100" spc="-105" dirty="0">
                <a:latin typeface="Verdana"/>
                <a:cs typeface="Verdana"/>
              </a:rPr>
              <a:t>using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this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130" dirty="0">
                <a:latin typeface="Verdana"/>
                <a:cs typeface="Verdana"/>
              </a:rPr>
              <a:t>system,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80" dirty="0">
                <a:latin typeface="Verdana"/>
                <a:cs typeface="Verdana"/>
              </a:rPr>
              <a:t>farmers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50" dirty="0">
                <a:latin typeface="Verdana"/>
                <a:cs typeface="Verdana"/>
              </a:rPr>
              <a:t>can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20" dirty="0">
                <a:latin typeface="Verdana"/>
                <a:cs typeface="Verdana"/>
              </a:rPr>
              <a:t>select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appropriate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70" dirty="0">
                <a:latin typeface="Verdana"/>
                <a:cs typeface="Verdana"/>
              </a:rPr>
              <a:t>crops,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75" dirty="0">
                <a:latin typeface="Verdana"/>
                <a:cs typeface="Verdana"/>
              </a:rPr>
              <a:t>improve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60" dirty="0">
                <a:latin typeface="Verdana"/>
                <a:cs typeface="Verdana"/>
              </a:rPr>
              <a:t>productivity,</a:t>
            </a:r>
            <a:r>
              <a:rPr sz="3100" spc="-285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optimize </a:t>
            </a:r>
            <a:r>
              <a:rPr sz="3100" spc="-55" dirty="0">
                <a:latin typeface="Verdana"/>
                <a:cs typeface="Verdana"/>
              </a:rPr>
              <a:t>resource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180" dirty="0">
                <a:latin typeface="Verdana"/>
                <a:cs typeface="Verdana"/>
              </a:rPr>
              <a:t>usage,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40" dirty="0">
                <a:latin typeface="Verdana"/>
                <a:cs typeface="Verdana"/>
              </a:rPr>
              <a:t>reduce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45" dirty="0">
                <a:latin typeface="Verdana"/>
                <a:cs typeface="Verdana"/>
              </a:rPr>
              <a:t>the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20" dirty="0">
                <a:latin typeface="Verdana"/>
                <a:cs typeface="Verdana"/>
              </a:rPr>
              <a:t>risk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55" dirty="0">
                <a:latin typeface="Verdana"/>
                <a:cs typeface="Verdana"/>
              </a:rPr>
              <a:t>of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crop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90" dirty="0">
                <a:latin typeface="Verdana"/>
                <a:cs typeface="Verdana"/>
              </a:rPr>
              <a:t>failure,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75" dirty="0">
                <a:latin typeface="Verdana"/>
                <a:cs typeface="Verdana"/>
              </a:rPr>
              <a:t>leading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to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90" dirty="0">
                <a:latin typeface="Verdana"/>
                <a:cs typeface="Verdana"/>
              </a:rPr>
              <a:t>more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dirty="0">
                <a:latin typeface="Verdana"/>
                <a:cs typeface="Verdana"/>
              </a:rPr>
              <a:t>efficient</a:t>
            </a:r>
            <a:r>
              <a:rPr sz="3100" spc="-300" dirty="0">
                <a:latin typeface="Verdana"/>
                <a:cs typeface="Verdana"/>
              </a:rPr>
              <a:t> </a:t>
            </a:r>
            <a:r>
              <a:rPr sz="3100" spc="-65" dirty="0">
                <a:latin typeface="Verdana"/>
                <a:cs typeface="Verdana"/>
              </a:rPr>
              <a:t>and</a:t>
            </a:r>
            <a:r>
              <a:rPr sz="3100" spc="-295" dirty="0">
                <a:latin typeface="Verdana"/>
                <a:cs typeface="Verdana"/>
              </a:rPr>
              <a:t> </a:t>
            </a:r>
            <a:r>
              <a:rPr sz="3100" spc="-10" dirty="0">
                <a:latin typeface="Verdana"/>
                <a:cs typeface="Verdana"/>
              </a:rPr>
              <a:t>sustainable </a:t>
            </a:r>
            <a:r>
              <a:rPr sz="3100" spc="-95" dirty="0">
                <a:latin typeface="Verdana"/>
                <a:cs typeface="Verdana"/>
              </a:rPr>
              <a:t>farming</a:t>
            </a:r>
            <a:r>
              <a:rPr sz="3100" spc="-280" dirty="0">
                <a:latin typeface="Verdana"/>
                <a:cs typeface="Verdana"/>
              </a:rPr>
              <a:t> </a:t>
            </a:r>
            <a:r>
              <a:rPr sz="3100" spc="-60" dirty="0">
                <a:latin typeface="Verdana"/>
                <a:cs typeface="Verdana"/>
              </a:rPr>
              <a:t>practices.</a:t>
            </a:r>
            <a:r>
              <a:rPr sz="3100" spc="-270" dirty="0">
                <a:latin typeface="Verdana"/>
                <a:cs typeface="Verdana"/>
              </a:rPr>
              <a:t> </a:t>
            </a:r>
            <a:r>
              <a:rPr sz="3400" spc="1680" dirty="0">
                <a:latin typeface="Courier New"/>
                <a:cs typeface="Courier New"/>
              </a:rPr>
              <a:t>🌾</a:t>
            </a:r>
            <a:endParaRPr sz="3400">
              <a:latin typeface="Courier New"/>
              <a:cs typeface="Courier New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6FFF623B-744A-092D-7187-E190AA847F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30400" y="116243"/>
            <a:ext cx="3487421" cy="1903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67909"/>
            <a:ext cx="9311588" cy="951909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10806" y="734476"/>
            <a:ext cx="151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49314" y="904802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79">
                <a:moveTo>
                  <a:pt x="0" y="0"/>
                </a:moveTo>
                <a:lnTo>
                  <a:pt x="2011053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47661" y="734476"/>
            <a:ext cx="151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3690" y="1734601"/>
            <a:ext cx="151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32198" y="1904927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119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986714" y="1023998"/>
            <a:ext cx="1936750" cy="10255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  <a:tabLst>
                <a:tab pos="543560" algn="l"/>
                <a:tab pos="1840230" algn="l"/>
              </a:tabLst>
            </a:pPr>
            <a:r>
              <a:rPr sz="1900" spc="-365" dirty="0">
                <a:latin typeface="Verdana"/>
                <a:cs typeface="Verdana"/>
              </a:rPr>
              <a:t>|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10" dirty="0">
                <a:latin typeface="Verdana"/>
                <a:cs typeface="Verdana"/>
              </a:rPr>
              <a:t>Farmer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  <a:tabLst>
                <a:tab pos="543560" algn="l"/>
                <a:tab pos="1710055" algn="l"/>
              </a:tabLst>
            </a:pPr>
            <a:r>
              <a:rPr sz="1900" spc="-365" dirty="0">
                <a:latin typeface="Verdana"/>
                <a:cs typeface="Verdana"/>
              </a:rPr>
              <a:t>|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10" dirty="0">
                <a:latin typeface="Verdana"/>
                <a:cs typeface="Verdana"/>
              </a:rPr>
              <a:t>(User)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R="83185" algn="ctr">
              <a:lnSpc>
                <a:spcPct val="100000"/>
              </a:lnSpc>
              <a:spcBef>
                <a:spcPts val="345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972118" y="1904927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40">
                <a:moveTo>
                  <a:pt x="0" y="0"/>
                </a:moveTo>
                <a:lnTo>
                  <a:pt x="1005530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964942" y="1734601"/>
            <a:ext cx="151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98627" y="2024123"/>
            <a:ext cx="163195" cy="692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">
              <a:lnSpc>
                <a:spcPct val="115100"/>
              </a:lnSpc>
              <a:spcBef>
                <a:spcPts val="100"/>
              </a:spcBef>
            </a:pPr>
            <a:r>
              <a:rPr sz="1900" spc="-365" dirty="0">
                <a:latin typeface="Verdana"/>
                <a:cs typeface="Verdana"/>
              </a:rPr>
              <a:t>| </a:t>
            </a:r>
            <a:r>
              <a:rPr sz="1900" spc="-80" dirty="0">
                <a:latin typeface="Verdana"/>
                <a:cs typeface="Verdana"/>
              </a:rPr>
              <a:t>v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49314" y="2905052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79">
                <a:moveTo>
                  <a:pt x="0" y="0"/>
                </a:moveTo>
                <a:lnTo>
                  <a:pt x="2011053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8796814" y="3401476"/>
            <a:ext cx="2009139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0350" algn="l"/>
              </a:tabLst>
            </a:pPr>
            <a:r>
              <a:rPr sz="1900" spc="-365" dirty="0">
                <a:latin typeface="Verdana"/>
                <a:cs typeface="Verdana"/>
              </a:rPr>
              <a:t>|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70" dirty="0">
                <a:latin typeface="Verdana"/>
                <a:cs typeface="Verdana"/>
              </a:rPr>
              <a:t>(HTML,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105" dirty="0">
                <a:latin typeface="Verdana"/>
                <a:cs typeface="Verdana"/>
              </a:rPr>
              <a:t>CSS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114" dirty="0">
                <a:latin typeface="Verdana"/>
                <a:cs typeface="Verdana"/>
              </a:rPr>
              <a:t>UI)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90861" y="2690873"/>
            <a:ext cx="2328545" cy="10255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24765" algn="r">
              <a:lnSpc>
                <a:spcPct val="100000"/>
              </a:lnSpc>
              <a:spcBef>
                <a:spcPts val="445"/>
              </a:spcBef>
              <a:tabLst>
                <a:tab pos="2136775" algn="l"/>
              </a:tabLst>
            </a:pP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345"/>
              </a:spcBef>
              <a:tabLst>
                <a:tab pos="365760" algn="l"/>
                <a:tab pos="2232025" algn="l"/>
              </a:tabLst>
            </a:pPr>
            <a:r>
              <a:rPr sz="1900" spc="-365" dirty="0">
                <a:latin typeface="Verdana"/>
                <a:cs typeface="Verdana"/>
              </a:rPr>
              <a:t>|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70" dirty="0">
                <a:latin typeface="Verdana"/>
                <a:cs typeface="Verdana"/>
              </a:rPr>
              <a:t>Web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Interface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R="10795" algn="r">
              <a:lnSpc>
                <a:spcPct val="100000"/>
              </a:lnSpc>
              <a:spcBef>
                <a:spcPts val="345"/>
              </a:spcBef>
            </a:pP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842648" y="3734851"/>
            <a:ext cx="222440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204" dirty="0">
                <a:latin typeface="Verdana"/>
                <a:cs typeface="Verdana"/>
              </a:rPr>
              <a:t> </a:t>
            </a:r>
            <a:r>
              <a:rPr sz="1900" spc="-114" dirty="0">
                <a:latin typeface="Verdana"/>
                <a:cs typeface="Verdana"/>
              </a:rPr>
              <a:t>Input:</a:t>
            </a:r>
            <a:r>
              <a:rPr sz="1900" spc="-204" dirty="0">
                <a:latin typeface="Verdana"/>
                <a:cs typeface="Verdana"/>
              </a:rPr>
              <a:t> </a:t>
            </a:r>
            <a:r>
              <a:rPr sz="1900" spc="-60" dirty="0">
                <a:latin typeface="Verdana"/>
                <a:cs typeface="Verdana"/>
              </a:rPr>
              <a:t>Soil,</a:t>
            </a:r>
            <a:r>
              <a:rPr sz="1900" spc="-204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Rain,</a:t>
            </a:r>
            <a:r>
              <a:rPr sz="1900" spc="75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932198" y="4571926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119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8793690" y="4401601"/>
            <a:ext cx="11912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</a:tabLst>
            </a:pP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972118" y="4571926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40">
                <a:moveTo>
                  <a:pt x="0" y="0"/>
                </a:moveTo>
                <a:lnTo>
                  <a:pt x="1005530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232260" y="4691123"/>
            <a:ext cx="266065" cy="6921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L="19685">
              <a:lnSpc>
                <a:spcPct val="100000"/>
              </a:lnSpc>
              <a:spcBef>
                <a:spcPts val="3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204" dirty="0">
                <a:latin typeface="Verdana"/>
                <a:cs typeface="Verdana"/>
              </a:rPr>
              <a:t> </a:t>
            </a:r>
            <a:r>
              <a:rPr sz="1900" spc="-455" dirty="0">
                <a:latin typeface="Verdana"/>
                <a:cs typeface="Verdana"/>
              </a:rPr>
              <a:t>_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830895" y="4024373"/>
            <a:ext cx="2566035" cy="6921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2164715" algn="l"/>
              </a:tabLst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204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Temperature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L="2146300">
              <a:lnSpc>
                <a:spcPct val="100000"/>
              </a:lnSpc>
              <a:spcBef>
                <a:spcPts val="345"/>
              </a:spcBef>
              <a:tabLst>
                <a:tab pos="2426970" algn="l"/>
              </a:tabLst>
            </a:pP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2850" spc="-937" baseline="-5847" dirty="0">
                <a:latin typeface="Verdana"/>
                <a:cs typeface="Verdana"/>
              </a:rPr>
              <a:t>+</a:t>
            </a:r>
            <a:endParaRPr sz="2850" baseline="-5847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1383978" y="4594518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>
                <a:moveTo>
                  <a:pt x="0" y="0"/>
                </a:moveTo>
                <a:lnTo>
                  <a:pt x="2011053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3382325" y="4424193"/>
            <a:ext cx="151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41600" y="4713715"/>
            <a:ext cx="2296160" cy="6921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Application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Logic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55" dirty="0">
                <a:latin typeface="Verdana"/>
                <a:cs typeface="Verdana"/>
              </a:rPr>
              <a:t> </a:t>
            </a:r>
            <a:r>
              <a:rPr sz="1900" spc="-65" dirty="0">
                <a:latin typeface="Verdana"/>
                <a:cs typeface="Verdana"/>
              </a:rPr>
              <a:t>(JavaScript)</a:t>
            </a:r>
            <a:r>
              <a:rPr sz="1900" spc="-155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203798" y="5380465"/>
            <a:ext cx="2371725" cy="6921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85" dirty="0">
                <a:latin typeface="Verdana"/>
                <a:cs typeface="Verdana"/>
              </a:rPr>
              <a:t> </a:t>
            </a:r>
            <a:r>
              <a:rPr sz="1900" spc="-55" dirty="0">
                <a:latin typeface="Verdana"/>
                <a:cs typeface="Verdana"/>
              </a:rPr>
              <a:t>Data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35" dirty="0">
                <a:latin typeface="Verdana"/>
                <a:cs typeface="Verdana"/>
              </a:rPr>
              <a:t>Processing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130" dirty="0">
                <a:latin typeface="Verdana"/>
                <a:cs typeface="Verdana"/>
              </a:rPr>
              <a:t>&amp;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L="139065">
              <a:lnSpc>
                <a:spcPct val="100000"/>
              </a:lnSpc>
              <a:spcBef>
                <a:spcPts val="3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Crop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Prediction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228354" y="6091068"/>
            <a:ext cx="1517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366863" y="6261393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119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2406783" y="6261393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40">
                <a:moveTo>
                  <a:pt x="0" y="0"/>
                </a:moveTo>
                <a:lnTo>
                  <a:pt x="1005530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2268275" y="6091068"/>
            <a:ext cx="1282700" cy="614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43635" algn="l"/>
              </a:tabLst>
            </a:pP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  <a:p>
            <a:pPr marL="46355">
              <a:lnSpc>
                <a:spcPct val="100000"/>
              </a:lnSpc>
              <a:spcBef>
                <a:spcPts val="70"/>
              </a:spcBef>
            </a:pP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1462410" y="7178826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>
                <a:moveTo>
                  <a:pt x="0" y="0"/>
                </a:moveTo>
                <a:lnTo>
                  <a:pt x="2011053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1323902" y="7008500"/>
            <a:ext cx="228854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9475" algn="l"/>
              </a:tabLst>
            </a:pP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557711" y="7341875"/>
            <a:ext cx="18211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Crop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Dataset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22848" y="7631397"/>
            <a:ext cx="2491105" cy="10255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73025">
              <a:lnSpc>
                <a:spcPct val="100000"/>
              </a:lnSpc>
              <a:spcBef>
                <a:spcPts val="4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80" dirty="0">
                <a:latin typeface="Verdana"/>
                <a:cs typeface="Verdana"/>
              </a:rPr>
              <a:t> </a:t>
            </a:r>
            <a:r>
              <a:rPr sz="1900" spc="-90" dirty="0">
                <a:latin typeface="Verdana"/>
                <a:cs typeface="Verdana"/>
              </a:rPr>
              <a:t>(Arrays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130" dirty="0">
                <a:latin typeface="Verdana"/>
                <a:cs typeface="Verdana"/>
              </a:rPr>
              <a:t>&amp;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60" dirty="0">
                <a:latin typeface="Verdana"/>
                <a:cs typeface="Verdana"/>
              </a:rPr>
              <a:t>Objects)</a:t>
            </a:r>
            <a:r>
              <a:rPr sz="1900" spc="-175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60" dirty="0">
                <a:latin typeface="Verdana"/>
                <a:cs typeface="Verdana"/>
              </a:rPr>
              <a:t>Soil,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Rainfall,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95" dirty="0">
                <a:latin typeface="Verdana"/>
                <a:cs typeface="Verdana"/>
              </a:rPr>
              <a:t>Temp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  <a:p>
            <a:pPr marL="165735">
              <a:lnSpc>
                <a:spcPct val="100000"/>
              </a:lnSpc>
              <a:spcBef>
                <a:spcPts val="345"/>
              </a:spcBef>
            </a:pPr>
            <a:r>
              <a:rPr sz="1900" spc="-315" dirty="0">
                <a:latin typeface="Verdana"/>
                <a:cs typeface="Verdana"/>
              </a:rPr>
              <a:t>|</a:t>
            </a:r>
            <a:r>
              <a:rPr sz="1900" spc="-19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Crop</a:t>
            </a:r>
            <a:r>
              <a:rPr sz="1900" spc="-19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Conditions</a:t>
            </a:r>
            <a:r>
              <a:rPr sz="1900" spc="-190" dirty="0">
                <a:latin typeface="Verdana"/>
                <a:cs typeface="Verdana"/>
              </a:rPr>
              <a:t> </a:t>
            </a:r>
            <a:r>
              <a:rPr sz="1900" spc="-365" dirty="0">
                <a:latin typeface="Verdana"/>
                <a:cs typeface="Verdana"/>
              </a:rPr>
              <a:t>|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1445295" y="884570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119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2485215" y="8845701"/>
            <a:ext cx="1005840" cy="0"/>
          </a:xfrm>
          <a:custGeom>
            <a:avLst/>
            <a:gdLst/>
            <a:ahLst/>
            <a:cxnLst/>
            <a:rect l="l" t="t" r="r" b="b"/>
            <a:pathLst>
              <a:path w="1005840">
                <a:moveTo>
                  <a:pt x="0" y="0"/>
                </a:moveTo>
                <a:lnTo>
                  <a:pt x="1005530" y="0"/>
                </a:lnTo>
              </a:path>
            </a:pathLst>
          </a:custGeom>
          <a:ln w="17201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1306787" y="8675375"/>
            <a:ext cx="232283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2195" algn="l"/>
                <a:tab pos="2183765" algn="l"/>
              </a:tabLst>
            </a:pP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625" dirty="0">
                <a:latin typeface="Verdana"/>
                <a:cs typeface="Verdana"/>
              </a:rPr>
              <a:t>+</a:t>
            </a:r>
            <a:r>
              <a:rPr sz="1900" dirty="0">
                <a:latin typeface="Verdana"/>
                <a:cs typeface="Verdana"/>
              </a:rPr>
              <a:t>	</a:t>
            </a:r>
            <a:r>
              <a:rPr sz="1900" spc="-625" dirty="0">
                <a:latin typeface="Verdana"/>
                <a:cs typeface="Verdana"/>
              </a:rPr>
              <a:t>+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69044" y="6723375"/>
            <a:ext cx="1631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Verdana"/>
                <a:cs typeface="Verdana"/>
              </a:rPr>
              <a:t>v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5020940" y="7184483"/>
            <a:ext cx="2456815" cy="0"/>
          </a:xfrm>
          <a:custGeom>
            <a:avLst/>
            <a:gdLst/>
            <a:ahLst/>
            <a:cxnLst/>
            <a:rect l="l" t="t" r="r" b="b"/>
            <a:pathLst>
              <a:path w="2456815">
                <a:moveTo>
                  <a:pt x="0" y="0"/>
                </a:moveTo>
                <a:lnTo>
                  <a:pt x="2456748" y="0"/>
                </a:lnTo>
              </a:path>
            </a:pathLst>
          </a:custGeom>
          <a:ln w="2101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020940" y="8813517"/>
            <a:ext cx="2456815" cy="0"/>
          </a:xfrm>
          <a:custGeom>
            <a:avLst/>
            <a:gdLst/>
            <a:ahLst/>
            <a:cxnLst/>
            <a:rect l="l" t="t" r="r" b="b"/>
            <a:pathLst>
              <a:path w="2456815">
                <a:moveTo>
                  <a:pt x="0" y="0"/>
                </a:moveTo>
                <a:lnTo>
                  <a:pt x="2456748" y="0"/>
                </a:lnTo>
              </a:path>
            </a:pathLst>
          </a:custGeom>
          <a:ln w="21013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4820915" y="6925653"/>
            <a:ext cx="2857500" cy="20618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540"/>
              </a:spcBef>
              <a:tabLst>
                <a:tab pos="2656205" algn="l"/>
              </a:tabLst>
            </a:pPr>
            <a:r>
              <a:rPr sz="2300" spc="-730" dirty="0">
                <a:latin typeface="Verdana"/>
                <a:cs typeface="Verdana"/>
              </a:rPr>
              <a:t>+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730" dirty="0">
                <a:latin typeface="Verdana"/>
                <a:cs typeface="Verdana"/>
              </a:rPr>
              <a:t>+</a:t>
            </a:r>
            <a:endParaRPr sz="2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300" spc="-380" dirty="0">
                <a:latin typeface="Verdana"/>
                <a:cs typeface="Verdana"/>
              </a:rPr>
              <a:t>|</a:t>
            </a:r>
            <a:r>
              <a:rPr sz="2300" spc="-175" dirty="0">
                <a:latin typeface="Verdana"/>
                <a:cs typeface="Verdana"/>
              </a:rPr>
              <a:t> </a:t>
            </a:r>
            <a:r>
              <a:rPr sz="2300" spc="-40" dirty="0">
                <a:latin typeface="Verdana"/>
                <a:cs typeface="Verdana"/>
              </a:rPr>
              <a:t>Recommendation</a:t>
            </a:r>
            <a:r>
              <a:rPr sz="2300" spc="-170" dirty="0">
                <a:latin typeface="Verdana"/>
                <a:cs typeface="Verdana"/>
              </a:rPr>
              <a:t> </a:t>
            </a:r>
            <a:r>
              <a:rPr sz="2300" spc="-430" dirty="0">
                <a:latin typeface="Verdana"/>
                <a:cs typeface="Verdana"/>
              </a:rPr>
              <a:t>|</a:t>
            </a:r>
            <a:endParaRPr sz="2300">
              <a:latin typeface="Verdana"/>
              <a:cs typeface="Verdana"/>
            </a:endParaRPr>
          </a:p>
          <a:p>
            <a:pPr marL="195580">
              <a:lnSpc>
                <a:spcPct val="100000"/>
              </a:lnSpc>
              <a:spcBef>
                <a:spcPts val="445"/>
              </a:spcBef>
            </a:pPr>
            <a:r>
              <a:rPr sz="2300" spc="-380" dirty="0">
                <a:latin typeface="Verdana"/>
                <a:cs typeface="Verdana"/>
              </a:rPr>
              <a:t>|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Output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35" dirty="0">
                <a:latin typeface="Verdana"/>
                <a:cs typeface="Verdana"/>
              </a:rPr>
              <a:t>Display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430" dirty="0">
                <a:latin typeface="Verdana"/>
                <a:cs typeface="Verdana"/>
              </a:rPr>
              <a:t>|</a:t>
            </a:r>
            <a:endParaRPr sz="2300">
              <a:latin typeface="Verdana"/>
              <a:cs typeface="Verdana"/>
            </a:endParaRPr>
          </a:p>
          <a:p>
            <a:pPr marL="146685">
              <a:lnSpc>
                <a:spcPct val="100000"/>
              </a:lnSpc>
              <a:spcBef>
                <a:spcPts val="445"/>
              </a:spcBef>
            </a:pPr>
            <a:r>
              <a:rPr sz="2300" spc="-380" dirty="0">
                <a:latin typeface="Verdana"/>
                <a:cs typeface="Verdana"/>
              </a:rPr>
              <a:t>|</a:t>
            </a:r>
            <a:r>
              <a:rPr sz="2300" spc="-220" dirty="0">
                <a:latin typeface="Verdana"/>
                <a:cs typeface="Verdana"/>
              </a:rPr>
              <a:t> </a:t>
            </a:r>
            <a:r>
              <a:rPr sz="2300" spc="-80" dirty="0">
                <a:latin typeface="Verdana"/>
                <a:cs typeface="Verdana"/>
              </a:rPr>
              <a:t>Suggested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Crop</a:t>
            </a:r>
            <a:r>
              <a:rPr sz="2300" spc="-215" dirty="0">
                <a:latin typeface="Verdana"/>
                <a:cs typeface="Verdana"/>
              </a:rPr>
              <a:t> </a:t>
            </a:r>
            <a:r>
              <a:rPr sz="2300" spc="-430" dirty="0">
                <a:latin typeface="Verdana"/>
                <a:cs typeface="Verdana"/>
              </a:rPr>
              <a:t>|</a:t>
            </a:r>
            <a:endParaRPr sz="2300">
              <a:latin typeface="Verdana"/>
              <a:cs typeface="Verdana"/>
            </a:endParaRPr>
          </a:p>
          <a:p>
            <a:pPr marL="45720">
              <a:lnSpc>
                <a:spcPct val="100000"/>
              </a:lnSpc>
              <a:spcBef>
                <a:spcPts val="450"/>
              </a:spcBef>
              <a:tabLst>
                <a:tab pos="2656205" algn="l"/>
              </a:tabLst>
            </a:pPr>
            <a:r>
              <a:rPr sz="2300" spc="-730" dirty="0">
                <a:latin typeface="Verdana"/>
                <a:cs typeface="Verdana"/>
              </a:rPr>
              <a:t>+</a:t>
            </a:r>
            <a:r>
              <a:rPr sz="2300" dirty="0">
                <a:latin typeface="Verdana"/>
                <a:cs typeface="Verdana"/>
              </a:rPr>
              <a:t>	</a:t>
            </a:r>
            <a:r>
              <a:rPr sz="2300" spc="-730" dirty="0">
                <a:latin typeface="Verdana"/>
                <a:cs typeface="Verdana"/>
              </a:rPr>
              <a:t>+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072424" y="7768184"/>
            <a:ext cx="6921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0360" algn="l"/>
              </a:tabLst>
            </a:pPr>
            <a:r>
              <a:rPr sz="1900" spc="-50" dirty="0">
                <a:latin typeface="Verdana"/>
                <a:cs typeface="Verdana"/>
              </a:rPr>
              <a:t>-</a:t>
            </a:r>
            <a:r>
              <a:rPr sz="1900" dirty="0">
                <a:latin typeface="Verdana"/>
                <a:cs typeface="Verdana"/>
              </a:rPr>
              <a:t>	-</a:t>
            </a:r>
            <a:r>
              <a:rPr sz="1900" spc="110" dirty="0">
                <a:latin typeface="Verdana"/>
                <a:cs typeface="Verdana"/>
              </a:rPr>
              <a:t> </a:t>
            </a:r>
            <a:r>
              <a:rPr sz="1900" spc="-595" dirty="0">
                <a:latin typeface="Verdana"/>
                <a:cs typeface="Verdana"/>
              </a:rPr>
              <a:t>&gt;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723982" y="5115083"/>
            <a:ext cx="1536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95" dirty="0">
                <a:latin typeface="Verdana"/>
                <a:cs typeface="Verdana"/>
              </a:rPr>
              <a:t>&gt;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91664">
              <a:lnSpc>
                <a:spcPct val="100000"/>
              </a:lnSpc>
              <a:spcBef>
                <a:spcPts val="135"/>
              </a:spcBef>
            </a:pPr>
            <a:r>
              <a:rPr sz="3500" spc="-254" dirty="0">
                <a:latin typeface="Arial Black"/>
                <a:cs typeface="Arial Black"/>
              </a:rPr>
              <a:t>System</a:t>
            </a:r>
            <a:r>
              <a:rPr sz="3500" spc="-275" dirty="0">
                <a:latin typeface="Arial Black"/>
                <a:cs typeface="Arial Black"/>
              </a:rPr>
              <a:t> </a:t>
            </a:r>
            <a:r>
              <a:rPr sz="3500" spc="-215" dirty="0">
                <a:latin typeface="Arial Black"/>
                <a:cs typeface="Arial Black"/>
              </a:rPr>
              <a:t>Architecture</a:t>
            </a:r>
            <a:r>
              <a:rPr sz="3500" spc="-270" dirty="0">
                <a:latin typeface="Arial Black"/>
                <a:cs typeface="Arial Black"/>
              </a:rPr>
              <a:t> </a:t>
            </a:r>
            <a:r>
              <a:rPr sz="3500" spc="-180" dirty="0">
                <a:latin typeface="Arial Black"/>
                <a:cs typeface="Arial Black"/>
              </a:rPr>
              <a:t>diagram:</a:t>
            </a:r>
            <a:endParaRPr sz="3500">
              <a:latin typeface="Arial Black"/>
              <a:cs typeface="Arial Black"/>
            </a:endParaRPr>
          </a:p>
        </p:txBody>
      </p:sp>
      <p:pic>
        <p:nvPicPr>
          <p:cNvPr id="43" name="object 4">
            <a:extLst>
              <a:ext uri="{FF2B5EF4-FFF2-40B4-BE49-F238E27FC236}">
                <a16:creationId xmlns:a16="http://schemas.microsoft.com/office/drawing/2014/main" id="{5733D9E3-F034-5017-2338-FF4B16A1C88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47716" y="156093"/>
            <a:ext cx="2861477" cy="1786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1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1" y="0"/>
                </a:lnTo>
                <a:lnTo>
                  <a:pt x="18288001" y="10287000"/>
                </a:lnTo>
                <a:close/>
              </a:path>
            </a:pathLst>
          </a:custGeom>
          <a:solidFill>
            <a:srgbClr val="F5F4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217684"/>
            <a:ext cx="8334390" cy="39242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10511" y="1217684"/>
            <a:ext cx="7829549" cy="39242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8700" y="5271424"/>
            <a:ext cx="6076949" cy="49434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51002" y="5246156"/>
            <a:ext cx="10020299" cy="49910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99" rIns="0" bIns="0" rtlCol="0">
            <a:spAutoFit/>
          </a:bodyPr>
          <a:lstStyle/>
          <a:p>
            <a:pPr marL="837565">
              <a:lnSpc>
                <a:spcPct val="100000"/>
              </a:lnSpc>
              <a:spcBef>
                <a:spcPts val="115"/>
              </a:spcBef>
            </a:pPr>
            <a:r>
              <a:rPr sz="4350" spc="-30" dirty="0"/>
              <a:t>Project</a:t>
            </a:r>
            <a:r>
              <a:rPr sz="4350" spc="-415" dirty="0"/>
              <a:t> </a:t>
            </a:r>
            <a:r>
              <a:rPr sz="4350" spc="-60" dirty="0"/>
              <a:t>Modules:</a:t>
            </a:r>
            <a:endParaRPr sz="4350"/>
          </a:p>
        </p:txBody>
      </p:sp>
      <p:sp>
        <p:nvSpPr>
          <p:cNvPr id="8" name="object 8"/>
          <p:cNvSpPr txBox="1"/>
          <p:nvPr/>
        </p:nvSpPr>
        <p:spPr>
          <a:xfrm>
            <a:off x="347844" y="1044677"/>
            <a:ext cx="5854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110" dirty="0">
                <a:latin typeface="Verdana"/>
                <a:cs typeface="Verdana"/>
              </a:rPr>
              <a:t>CO-</a:t>
            </a:r>
            <a:r>
              <a:rPr sz="1900" spc="-135" dirty="0">
                <a:latin typeface="Verdana"/>
                <a:cs typeface="Verdana"/>
              </a:rPr>
              <a:t>1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0140" y="5123648"/>
            <a:ext cx="59753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90" dirty="0">
                <a:latin typeface="Verdana"/>
                <a:cs typeface="Verdana"/>
              </a:rPr>
              <a:t>CO-</a:t>
            </a:r>
            <a:r>
              <a:rPr sz="1900" spc="-100" dirty="0">
                <a:latin typeface="Verdana"/>
                <a:cs typeface="Verdana"/>
              </a:rPr>
              <a:t>2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1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1" y="0"/>
                </a:lnTo>
                <a:lnTo>
                  <a:pt x="18288001" y="10287000"/>
                </a:lnTo>
                <a:close/>
              </a:path>
            </a:pathLst>
          </a:custGeom>
          <a:solidFill>
            <a:srgbClr val="F5F4E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782" y="0"/>
            <a:ext cx="7600949" cy="446806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60104" y="0"/>
            <a:ext cx="8048609" cy="44718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5782" y="4602693"/>
            <a:ext cx="5591190" cy="517187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78320" y="4720985"/>
            <a:ext cx="9877439" cy="5048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1324" y="160981"/>
            <a:ext cx="6051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90" dirty="0">
                <a:latin typeface="Verdana"/>
                <a:cs typeface="Verdana"/>
              </a:rPr>
              <a:t>CO-</a:t>
            </a:r>
            <a:r>
              <a:rPr sz="1900" spc="-50" dirty="0">
                <a:latin typeface="Verdana"/>
                <a:cs typeface="Verdana"/>
              </a:rPr>
              <a:t>3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055" y="4572234"/>
            <a:ext cx="62166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65" dirty="0">
                <a:latin typeface="Verdana"/>
                <a:cs typeface="Verdana"/>
              </a:rPr>
              <a:t>CO-</a:t>
            </a:r>
            <a:r>
              <a:rPr sz="1900" spc="-50" dirty="0">
                <a:latin typeface="Verdana"/>
                <a:cs typeface="Verdana"/>
              </a:rPr>
              <a:t>4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4500" y="5143499"/>
            <a:ext cx="4114799" cy="4114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6086" y="5143499"/>
            <a:ext cx="4114799" cy="4114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143499"/>
            <a:ext cx="8439149" cy="41147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4826" y="289560"/>
            <a:ext cx="5389880" cy="53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50" spc="-229" dirty="0">
                <a:latin typeface="Arial Black"/>
                <a:cs typeface="Arial Black"/>
              </a:rPr>
              <a:t>Objectives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90" dirty="0">
                <a:latin typeface="Arial Black"/>
                <a:cs typeface="Arial Black"/>
              </a:rPr>
              <a:t>of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180" dirty="0">
                <a:latin typeface="Arial Black"/>
                <a:cs typeface="Arial Black"/>
              </a:rPr>
              <a:t>the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220" dirty="0">
                <a:latin typeface="Arial Black"/>
                <a:cs typeface="Arial Black"/>
              </a:rPr>
              <a:t>Project</a:t>
            </a:r>
            <a:r>
              <a:rPr sz="3350" spc="-290" dirty="0">
                <a:latin typeface="Arial Black"/>
                <a:cs typeface="Arial Black"/>
              </a:rPr>
              <a:t> </a:t>
            </a:r>
            <a:r>
              <a:rPr sz="3350" spc="-50" dirty="0">
                <a:latin typeface="Arial Black"/>
                <a:cs typeface="Arial Black"/>
              </a:rPr>
              <a:t>:</a:t>
            </a:r>
            <a:endParaRPr sz="3350">
              <a:latin typeface="Arial Black"/>
              <a:cs typeface="Arial Black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326" y="1070832"/>
            <a:ext cx="133350" cy="13335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2109" y="809244"/>
            <a:ext cx="17240885" cy="3700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01065" algn="just">
              <a:lnSpc>
                <a:spcPct val="116500"/>
              </a:lnSpc>
              <a:spcBef>
                <a:spcPts val="100"/>
              </a:spcBef>
            </a:pPr>
            <a:r>
              <a:rPr sz="2950" spc="-140" dirty="0">
                <a:latin typeface="Verdana"/>
                <a:cs typeface="Verdana"/>
              </a:rPr>
              <a:t>To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5" dirty="0">
                <a:latin typeface="Verdana"/>
                <a:cs typeface="Verdana"/>
              </a:rPr>
              <a:t>develop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45" dirty="0">
                <a:latin typeface="Verdana"/>
                <a:cs typeface="Verdana"/>
              </a:rPr>
              <a:t>a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90" dirty="0">
                <a:latin typeface="Verdana"/>
                <a:cs typeface="Verdana"/>
              </a:rPr>
              <a:t>web-</a:t>
            </a:r>
            <a:r>
              <a:rPr sz="2950" spc="-40" dirty="0">
                <a:latin typeface="Verdana"/>
                <a:cs typeface="Verdana"/>
              </a:rPr>
              <a:t>based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0" dirty="0">
                <a:latin typeface="Verdana"/>
                <a:cs typeface="Verdana"/>
              </a:rPr>
              <a:t>application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30" dirty="0">
                <a:latin typeface="Verdana"/>
                <a:cs typeface="Verdana"/>
              </a:rPr>
              <a:t>that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25" dirty="0">
                <a:latin typeface="Verdana"/>
                <a:cs typeface="Verdana"/>
              </a:rPr>
              <a:t>helps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70" dirty="0">
                <a:latin typeface="Verdana"/>
                <a:cs typeface="Verdana"/>
              </a:rPr>
              <a:t>farmers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75" dirty="0">
                <a:latin typeface="Verdana"/>
                <a:cs typeface="Verdana"/>
              </a:rPr>
              <a:t>make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5" dirty="0">
                <a:latin typeface="Verdana"/>
                <a:cs typeface="Verdana"/>
              </a:rPr>
              <a:t>better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55" dirty="0">
                <a:latin typeface="Verdana"/>
                <a:cs typeface="Verdana"/>
              </a:rPr>
              <a:t>agricultural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55" dirty="0">
                <a:latin typeface="Verdana"/>
                <a:cs typeface="Verdana"/>
              </a:rPr>
              <a:t>decisions.</a:t>
            </a:r>
            <a:r>
              <a:rPr sz="2950" spc="-295" dirty="0">
                <a:latin typeface="Verdana"/>
                <a:cs typeface="Verdana"/>
              </a:rPr>
              <a:t> </a:t>
            </a:r>
            <a:r>
              <a:rPr sz="2950" spc="-140" dirty="0">
                <a:latin typeface="Verdana"/>
                <a:cs typeface="Verdana"/>
              </a:rPr>
              <a:t>To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55" dirty="0">
                <a:latin typeface="Verdana"/>
                <a:cs typeface="Verdana"/>
              </a:rPr>
              <a:t>recommend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35" dirty="0">
                <a:latin typeface="Verdana"/>
                <a:cs typeface="Verdana"/>
              </a:rPr>
              <a:t>suitable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dirty="0">
                <a:latin typeface="Verdana"/>
                <a:cs typeface="Verdana"/>
              </a:rPr>
              <a:t>crops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40" dirty="0">
                <a:latin typeface="Verdana"/>
                <a:cs typeface="Verdana"/>
              </a:rPr>
              <a:t>based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5" dirty="0">
                <a:latin typeface="Verdana"/>
                <a:cs typeface="Verdana"/>
              </a:rPr>
              <a:t>on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0" dirty="0">
                <a:latin typeface="Verdana"/>
                <a:cs typeface="Verdana"/>
              </a:rPr>
              <a:t>factors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30" dirty="0">
                <a:latin typeface="Verdana"/>
                <a:cs typeface="Verdana"/>
              </a:rPr>
              <a:t>such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14" dirty="0">
                <a:latin typeface="Verdana"/>
                <a:cs typeface="Verdana"/>
              </a:rPr>
              <a:t>as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0" dirty="0">
                <a:latin typeface="Verdana"/>
                <a:cs typeface="Verdana"/>
              </a:rPr>
              <a:t>soil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90" dirty="0">
                <a:latin typeface="Verdana"/>
                <a:cs typeface="Verdana"/>
              </a:rPr>
              <a:t>type,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55" dirty="0">
                <a:latin typeface="Verdana"/>
                <a:cs typeface="Verdana"/>
              </a:rPr>
              <a:t>rainfall,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45" dirty="0">
                <a:latin typeface="Verdana"/>
                <a:cs typeface="Verdana"/>
              </a:rPr>
              <a:t>and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90" dirty="0">
                <a:latin typeface="Verdana"/>
                <a:cs typeface="Verdana"/>
              </a:rPr>
              <a:t>temperature.</a:t>
            </a:r>
            <a:r>
              <a:rPr sz="2950" spc="-295" dirty="0">
                <a:latin typeface="Verdana"/>
                <a:cs typeface="Verdana"/>
              </a:rPr>
              <a:t> </a:t>
            </a:r>
            <a:r>
              <a:rPr sz="2950" spc="-140" dirty="0">
                <a:latin typeface="Verdana"/>
                <a:cs typeface="Verdana"/>
              </a:rPr>
              <a:t>To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60" dirty="0">
                <a:latin typeface="Verdana"/>
                <a:cs typeface="Verdana"/>
              </a:rPr>
              <a:t>improve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20" dirty="0">
                <a:latin typeface="Verdana"/>
                <a:cs typeface="Verdana"/>
              </a:rPr>
              <a:t>crop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0" dirty="0">
                <a:latin typeface="Verdana"/>
                <a:cs typeface="Verdana"/>
              </a:rPr>
              <a:t>productivity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35" dirty="0">
                <a:latin typeface="Verdana"/>
                <a:cs typeface="Verdana"/>
              </a:rPr>
              <a:t>by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45" dirty="0">
                <a:latin typeface="Verdana"/>
                <a:cs typeface="Verdana"/>
              </a:rPr>
              <a:t>providing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95" dirty="0">
                <a:latin typeface="Verdana"/>
                <a:cs typeface="Verdana"/>
              </a:rPr>
              <a:t>data-</a:t>
            </a:r>
            <a:r>
              <a:rPr sz="2950" spc="-40" dirty="0">
                <a:latin typeface="Verdana"/>
                <a:cs typeface="Verdana"/>
              </a:rPr>
              <a:t>driven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85" dirty="0">
                <a:latin typeface="Verdana"/>
                <a:cs typeface="Verdana"/>
              </a:rPr>
              <a:t>farming</a:t>
            </a:r>
            <a:r>
              <a:rPr sz="2950" spc="-315" dirty="0">
                <a:latin typeface="Verdana"/>
                <a:cs typeface="Verdana"/>
              </a:rPr>
              <a:t> </a:t>
            </a:r>
            <a:r>
              <a:rPr sz="2950" spc="-105" dirty="0">
                <a:latin typeface="Verdana"/>
                <a:cs typeface="Verdana"/>
              </a:rPr>
              <a:t>suggestions.</a:t>
            </a:r>
            <a:endParaRPr sz="295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585"/>
              </a:spcBef>
            </a:pPr>
            <a:r>
              <a:rPr sz="2950" spc="-145" dirty="0">
                <a:latin typeface="Verdana"/>
                <a:cs typeface="Verdana"/>
              </a:rPr>
              <a:t>To</a:t>
            </a:r>
            <a:r>
              <a:rPr sz="2950" spc="-280" dirty="0">
                <a:latin typeface="Verdana"/>
                <a:cs typeface="Verdana"/>
              </a:rPr>
              <a:t> </a:t>
            </a:r>
            <a:r>
              <a:rPr sz="2950" spc="-55" dirty="0">
                <a:latin typeface="Verdana"/>
                <a:cs typeface="Verdana"/>
              </a:rPr>
              <a:t>create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spc="-150" dirty="0">
                <a:latin typeface="Verdana"/>
                <a:cs typeface="Verdana"/>
              </a:rPr>
              <a:t>a</a:t>
            </a:r>
            <a:r>
              <a:rPr sz="2950" spc="-280" dirty="0">
                <a:latin typeface="Verdana"/>
                <a:cs typeface="Verdana"/>
              </a:rPr>
              <a:t> </a:t>
            </a:r>
            <a:r>
              <a:rPr sz="2950" spc="-114" dirty="0">
                <a:latin typeface="Verdana"/>
                <a:cs typeface="Verdana"/>
              </a:rPr>
              <a:t>user-</a:t>
            </a:r>
            <a:r>
              <a:rPr sz="2950" spc="-20" dirty="0">
                <a:latin typeface="Verdana"/>
                <a:cs typeface="Verdana"/>
              </a:rPr>
              <a:t>friendly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spc="-90" dirty="0">
                <a:latin typeface="Verdana"/>
                <a:cs typeface="Verdana"/>
              </a:rPr>
              <a:t>system</a:t>
            </a:r>
            <a:r>
              <a:rPr sz="2950" spc="-280" dirty="0">
                <a:latin typeface="Verdana"/>
                <a:cs typeface="Verdana"/>
              </a:rPr>
              <a:t> </a:t>
            </a:r>
            <a:r>
              <a:rPr sz="2950" spc="-35" dirty="0">
                <a:latin typeface="Verdana"/>
                <a:cs typeface="Verdana"/>
              </a:rPr>
              <a:t>that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spc="-60" dirty="0">
                <a:latin typeface="Verdana"/>
                <a:cs typeface="Verdana"/>
              </a:rPr>
              <a:t>is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spc="-50" dirty="0">
                <a:latin typeface="Verdana"/>
                <a:cs typeface="Verdana"/>
              </a:rPr>
              <a:t>simple</a:t>
            </a:r>
            <a:r>
              <a:rPr sz="2950" spc="-280" dirty="0">
                <a:latin typeface="Verdana"/>
                <a:cs typeface="Verdana"/>
              </a:rPr>
              <a:t> </a:t>
            </a:r>
            <a:r>
              <a:rPr sz="2950" spc="-50" dirty="0">
                <a:latin typeface="Verdana"/>
                <a:cs typeface="Verdana"/>
              </a:rPr>
              <a:t>and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spc="-110" dirty="0">
                <a:latin typeface="Verdana"/>
                <a:cs typeface="Verdana"/>
              </a:rPr>
              <a:t>easy</a:t>
            </a:r>
            <a:r>
              <a:rPr sz="2950" spc="-280" dirty="0">
                <a:latin typeface="Verdana"/>
                <a:cs typeface="Verdana"/>
              </a:rPr>
              <a:t> </a:t>
            </a:r>
            <a:r>
              <a:rPr sz="2950" dirty="0">
                <a:latin typeface="Verdana"/>
                <a:cs typeface="Verdana"/>
              </a:rPr>
              <a:t>for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spc="-75" dirty="0">
                <a:latin typeface="Verdana"/>
                <a:cs typeface="Verdana"/>
              </a:rPr>
              <a:t>farmers</a:t>
            </a:r>
            <a:r>
              <a:rPr sz="2950" spc="-275" dirty="0">
                <a:latin typeface="Verdana"/>
                <a:cs typeface="Verdana"/>
              </a:rPr>
              <a:t> </a:t>
            </a:r>
            <a:r>
              <a:rPr sz="2950" dirty="0">
                <a:latin typeface="Verdana"/>
                <a:cs typeface="Verdana"/>
              </a:rPr>
              <a:t>to</a:t>
            </a:r>
            <a:r>
              <a:rPr sz="2950" spc="-280" dirty="0">
                <a:latin typeface="Verdana"/>
                <a:cs typeface="Verdana"/>
              </a:rPr>
              <a:t> </a:t>
            </a:r>
            <a:r>
              <a:rPr sz="2950" spc="-20" dirty="0">
                <a:latin typeface="Verdana"/>
                <a:cs typeface="Verdana"/>
              </a:rPr>
              <a:t>use.</a:t>
            </a:r>
            <a:endParaRPr sz="2950">
              <a:latin typeface="Verdana"/>
              <a:cs typeface="Verdana"/>
            </a:endParaRPr>
          </a:p>
          <a:p>
            <a:pPr marL="12700" marR="5080" algn="just">
              <a:lnSpc>
                <a:spcPct val="116500"/>
              </a:lnSpc>
            </a:pPr>
            <a:r>
              <a:rPr sz="2950" spc="-335" dirty="0">
                <a:latin typeface="Verdana"/>
                <a:cs typeface="Verdana"/>
              </a:rPr>
              <a:t>To</a:t>
            </a:r>
            <a:r>
              <a:rPr sz="2950" spc="75" dirty="0">
                <a:latin typeface="Verdana"/>
                <a:cs typeface="Verdana"/>
              </a:rPr>
              <a:t> </a:t>
            </a:r>
            <a:r>
              <a:rPr sz="2950" spc="-20" dirty="0">
                <a:latin typeface="Verdana"/>
                <a:cs typeface="Verdana"/>
              </a:rPr>
              <a:t>support</a:t>
            </a:r>
            <a:r>
              <a:rPr sz="2950" spc="-240" dirty="0">
                <a:latin typeface="Verdana"/>
                <a:cs typeface="Verdana"/>
              </a:rPr>
              <a:t> </a:t>
            </a:r>
            <a:r>
              <a:rPr sz="2950" spc="-35" dirty="0">
                <a:latin typeface="Verdana"/>
                <a:cs typeface="Verdana"/>
              </a:rPr>
              <a:t>multiple</a:t>
            </a:r>
            <a:r>
              <a:rPr sz="2950" spc="-225" dirty="0">
                <a:latin typeface="Verdana"/>
                <a:cs typeface="Verdana"/>
              </a:rPr>
              <a:t> </a:t>
            </a:r>
            <a:r>
              <a:rPr sz="2950" spc="-135" dirty="0">
                <a:latin typeface="Verdana"/>
                <a:cs typeface="Verdana"/>
              </a:rPr>
              <a:t>languages</a:t>
            </a:r>
            <a:r>
              <a:rPr sz="2950" spc="-125" dirty="0">
                <a:latin typeface="Verdana"/>
                <a:cs typeface="Verdana"/>
              </a:rPr>
              <a:t> </a:t>
            </a:r>
            <a:r>
              <a:rPr sz="2950" spc="-105" dirty="0">
                <a:latin typeface="Verdana"/>
                <a:cs typeface="Verdana"/>
              </a:rPr>
              <a:t>so</a:t>
            </a:r>
            <a:r>
              <a:rPr sz="2950" spc="-155" dirty="0">
                <a:latin typeface="Verdana"/>
                <a:cs typeface="Verdana"/>
              </a:rPr>
              <a:t> </a:t>
            </a:r>
            <a:r>
              <a:rPr sz="2950" spc="-60" dirty="0">
                <a:latin typeface="Verdana"/>
                <a:cs typeface="Verdana"/>
              </a:rPr>
              <a:t>that</a:t>
            </a:r>
            <a:r>
              <a:rPr sz="2950" spc="-200" dirty="0">
                <a:latin typeface="Verdana"/>
                <a:cs typeface="Verdana"/>
              </a:rPr>
              <a:t> </a:t>
            </a:r>
            <a:r>
              <a:rPr sz="2950" spc="-95" dirty="0">
                <a:latin typeface="Verdana"/>
                <a:cs typeface="Verdana"/>
              </a:rPr>
              <a:t>farmers</a:t>
            </a:r>
            <a:r>
              <a:rPr sz="2950" spc="-165" dirty="0">
                <a:latin typeface="Verdana"/>
                <a:cs typeface="Verdana"/>
              </a:rPr>
              <a:t> </a:t>
            </a:r>
            <a:r>
              <a:rPr sz="2950" spc="-65" dirty="0">
                <a:latin typeface="Verdana"/>
                <a:cs typeface="Verdana"/>
              </a:rPr>
              <a:t>from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20" dirty="0">
                <a:latin typeface="Verdana"/>
                <a:cs typeface="Verdana"/>
              </a:rPr>
              <a:t>different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100" dirty="0">
                <a:latin typeface="Verdana"/>
                <a:cs typeface="Verdana"/>
              </a:rPr>
              <a:t>regions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85" dirty="0">
                <a:latin typeface="Verdana"/>
                <a:cs typeface="Verdana"/>
              </a:rPr>
              <a:t>can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60" dirty="0">
                <a:latin typeface="Verdana"/>
                <a:cs typeface="Verdana"/>
              </a:rPr>
              <a:t>access</a:t>
            </a:r>
            <a:r>
              <a:rPr sz="2950" spc="-150" dirty="0">
                <a:latin typeface="Verdana"/>
                <a:cs typeface="Verdana"/>
              </a:rPr>
              <a:t> </a:t>
            </a:r>
            <a:r>
              <a:rPr sz="2950" spc="-65" dirty="0">
                <a:latin typeface="Verdana"/>
                <a:cs typeface="Verdana"/>
              </a:rPr>
              <a:t>the</a:t>
            </a:r>
            <a:r>
              <a:rPr sz="2950" spc="-145" dirty="0">
                <a:latin typeface="Verdana"/>
                <a:cs typeface="Verdana"/>
              </a:rPr>
              <a:t> </a:t>
            </a:r>
            <a:r>
              <a:rPr sz="2950" spc="-10" dirty="0">
                <a:latin typeface="Verdana"/>
                <a:cs typeface="Verdana"/>
              </a:rPr>
              <a:t>application easily.</a:t>
            </a:r>
            <a:endParaRPr sz="295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285"/>
              </a:spcBef>
            </a:pPr>
            <a:r>
              <a:rPr sz="2950" spc="-145" dirty="0">
                <a:latin typeface="Verdana"/>
                <a:cs typeface="Verdana"/>
              </a:rPr>
              <a:t>To</a:t>
            </a:r>
            <a:r>
              <a:rPr sz="2950" spc="-265" dirty="0">
                <a:latin typeface="Verdana"/>
                <a:cs typeface="Verdana"/>
              </a:rPr>
              <a:t> </a:t>
            </a:r>
            <a:r>
              <a:rPr sz="2950" spc="-35" dirty="0">
                <a:latin typeface="Verdana"/>
                <a:cs typeface="Verdana"/>
              </a:rPr>
              <a:t>promote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2950" dirty="0">
                <a:latin typeface="Verdana"/>
                <a:cs typeface="Verdana"/>
              </a:rPr>
              <a:t>efficient</a:t>
            </a:r>
            <a:r>
              <a:rPr sz="2950" spc="-265" dirty="0">
                <a:latin typeface="Verdana"/>
                <a:cs typeface="Verdana"/>
              </a:rPr>
              <a:t> </a:t>
            </a:r>
            <a:r>
              <a:rPr sz="2950" spc="-50" dirty="0">
                <a:latin typeface="Verdana"/>
                <a:cs typeface="Verdana"/>
              </a:rPr>
              <a:t>and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2950" spc="-55" dirty="0">
                <a:latin typeface="Verdana"/>
                <a:cs typeface="Verdana"/>
              </a:rPr>
              <a:t>sustainable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2950" spc="-90" dirty="0">
                <a:latin typeface="Verdana"/>
                <a:cs typeface="Verdana"/>
              </a:rPr>
              <a:t>farming</a:t>
            </a:r>
            <a:r>
              <a:rPr sz="2950" spc="-265" dirty="0">
                <a:latin typeface="Verdana"/>
                <a:cs typeface="Verdana"/>
              </a:rPr>
              <a:t> </a:t>
            </a:r>
            <a:r>
              <a:rPr sz="2950" spc="-25" dirty="0">
                <a:latin typeface="Verdana"/>
                <a:cs typeface="Verdana"/>
              </a:rPr>
              <a:t>practices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2950" spc="-65" dirty="0">
                <a:latin typeface="Verdana"/>
                <a:cs typeface="Verdana"/>
              </a:rPr>
              <a:t>through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2950" spc="-20" dirty="0">
                <a:latin typeface="Verdana"/>
                <a:cs typeface="Verdana"/>
              </a:rPr>
              <a:t>better</a:t>
            </a:r>
            <a:r>
              <a:rPr sz="2950" spc="-265" dirty="0">
                <a:latin typeface="Verdana"/>
                <a:cs typeface="Verdana"/>
              </a:rPr>
              <a:t> </a:t>
            </a:r>
            <a:r>
              <a:rPr sz="2950" spc="-50" dirty="0">
                <a:latin typeface="Verdana"/>
                <a:cs typeface="Verdana"/>
              </a:rPr>
              <a:t>resource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2950" spc="-65" dirty="0">
                <a:latin typeface="Verdana"/>
                <a:cs typeface="Verdana"/>
              </a:rPr>
              <a:t>utilization.</a:t>
            </a:r>
            <a:r>
              <a:rPr sz="2950" spc="-260" dirty="0">
                <a:latin typeface="Verdana"/>
                <a:cs typeface="Verdana"/>
              </a:rPr>
              <a:t> </a:t>
            </a:r>
            <a:r>
              <a:rPr sz="3250" spc="1575" dirty="0">
                <a:latin typeface="Courier New"/>
                <a:cs typeface="Courier New"/>
              </a:rPr>
              <a:t>🌾</a:t>
            </a:r>
            <a:endParaRPr sz="325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326" y="1594707"/>
            <a:ext cx="133350" cy="1333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326" y="2118582"/>
            <a:ext cx="133350" cy="1333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326" y="2642457"/>
            <a:ext cx="133350" cy="1333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326" y="3166332"/>
            <a:ext cx="133350" cy="1333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2326" y="4214083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4900" y="2170646"/>
            <a:ext cx="414474" cy="6497714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2200" spc="-180" dirty="0">
                <a:latin typeface="Arial Black"/>
                <a:cs typeface="Arial Black"/>
              </a:rPr>
              <a:t>CO</a:t>
            </a:r>
            <a:endParaRPr sz="2200">
              <a:latin typeface="Arial Black"/>
              <a:cs typeface="Arial Black"/>
            </a:endParaRPr>
          </a:p>
          <a:p>
            <a:pPr marR="5080" algn="just">
              <a:lnSpc>
                <a:spcPts val="9550"/>
              </a:lnSpc>
              <a:spcBef>
                <a:spcPts val="1040"/>
              </a:spcBef>
            </a:pPr>
            <a:r>
              <a:rPr sz="1500" spc="-105" dirty="0">
                <a:latin typeface="Arial Black"/>
                <a:cs typeface="Arial Black"/>
              </a:rPr>
              <a:t>CO1 CO2 CO3 CO4 CO5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15100" y="2170646"/>
            <a:ext cx="5100403" cy="6633338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2200" spc="-135" dirty="0">
                <a:latin typeface="Arial Black"/>
                <a:cs typeface="Arial Black"/>
              </a:rPr>
              <a:t>Evaluation</a:t>
            </a:r>
            <a:r>
              <a:rPr sz="2200" spc="-155" dirty="0">
                <a:latin typeface="Arial Black"/>
                <a:cs typeface="Arial Black"/>
              </a:rPr>
              <a:t> </a:t>
            </a:r>
            <a:r>
              <a:rPr sz="2200" spc="-130" dirty="0">
                <a:latin typeface="Arial Black"/>
                <a:cs typeface="Arial Black"/>
              </a:rPr>
              <a:t>Criteria</a:t>
            </a:r>
            <a:r>
              <a:rPr sz="2200" spc="-150" dirty="0">
                <a:latin typeface="Arial Black"/>
                <a:cs typeface="Arial Black"/>
              </a:rPr>
              <a:t> </a:t>
            </a:r>
            <a:r>
              <a:rPr sz="2200" spc="-10" dirty="0">
                <a:latin typeface="Arial Black"/>
                <a:cs typeface="Arial Black"/>
              </a:rPr>
              <a:t>(Given)</a:t>
            </a:r>
            <a:endParaRPr sz="2200">
              <a:latin typeface="Arial Black"/>
              <a:cs typeface="Arial Black"/>
            </a:endParaRPr>
          </a:p>
          <a:p>
            <a:pPr marR="295910">
              <a:lnSpc>
                <a:spcPts val="9550"/>
              </a:lnSpc>
              <a:spcBef>
                <a:spcPts val="1240"/>
              </a:spcBef>
            </a:pPr>
            <a:r>
              <a:rPr sz="1500" spc="-40" dirty="0">
                <a:latin typeface="Verdana"/>
                <a:cs typeface="Verdana"/>
              </a:rPr>
              <a:t>Internet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Fundamentals,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HTML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Structure</a:t>
            </a:r>
            <a:r>
              <a:rPr sz="1500" spc="-105" dirty="0">
                <a:latin typeface="Verdana"/>
                <a:cs typeface="Verdana"/>
              </a:rPr>
              <a:t> &amp; </a:t>
            </a:r>
            <a:r>
              <a:rPr sz="1500" spc="-25" dirty="0">
                <a:latin typeface="Verdana"/>
                <a:cs typeface="Verdana"/>
              </a:rPr>
              <a:t>Basic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60" dirty="0">
                <a:latin typeface="Verdana"/>
                <a:cs typeface="Verdana"/>
              </a:rPr>
              <a:t>CSS Forms,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Semantic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HTML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5" dirty="0">
                <a:latin typeface="Verdana"/>
                <a:cs typeface="Verdana"/>
              </a:rPr>
              <a:t>&amp;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Advanced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80" dirty="0">
                <a:latin typeface="Verdana"/>
                <a:cs typeface="Verdana"/>
              </a:rPr>
              <a:t>CSS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Layouts JavaScript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55" dirty="0">
                <a:latin typeface="Verdana"/>
                <a:cs typeface="Verdana"/>
              </a:rPr>
              <a:t>Programming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Fundamentals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r>
              <a:rPr sz="1500" dirty="0">
                <a:latin typeface="Verdana"/>
                <a:cs typeface="Verdana"/>
              </a:rPr>
              <a:t>DOM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Manipulation,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Events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105" dirty="0">
                <a:latin typeface="Verdana"/>
                <a:cs typeface="Verdana"/>
              </a:rPr>
              <a:t>&amp; </a:t>
            </a:r>
            <a:r>
              <a:rPr sz="1500" spc="-60" dirty="0">
                <a:latin typeface="Verdana"/>
                <a:cs typeface="Verdana"/>
              </a:rPr>
              <a:t>API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Integration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25"/>
              </a:spcBef>
            </a:pPr>
            <a:endParaRPr sz="1500">
              <a:latin typeface="Verdana"/>
              <a:cs typeface="Verdana"/>
            </a:endParaRPr>
          </a:p>
          <a:p>
            <a:pPr>
              <a:lnSpc>
                <a:spcPct val="116700"/>
              </a:lnSpc>
              <a:spcBef>
                <a:spcPts val="5"/>
              </a:spcBef>
            </a:pPr>
            <a:r>
              <a:rPr sz="1500" spc="-10" dirty="0">
                <a:latin typeface="Verdana"/>
                <a:cs typeface="Verdana"/>
              </a:rPr>
              <a:t>Advanced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Web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Development,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GitHub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Version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Control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&amp; </a:t>
            </a:r>
            <a:r>
              <a:rPr sz="1500" spc="-10" dirty="0">
                <a:latin typeface="Verdana"/>
                <a:cs typeface="Verdana"/>
              </a:rPr>
              <a:t>Deployment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25300" y="2170646"/>
            <a:ext cx="5236651" cy="6533881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2200" spc="-170" dirty="0">
                <a:latin typeface="Arial Black"/>
                <a:cs typeface="Arial Black"/>
              </a:rPr>
              <a:t>CO</a:t>
            </a:r>
            <a:r>
              <a:rPr sz="2200" spc="-180" dirty="0">
                <a:latin typeface="Arial Black"/>
                <a:cs typeface="Arial Black"/>
              </a:rPr>
              <a:t> </a:t>
            </a:r>
            <a:r>
              <a:rPr sz="2200" spc="-130" dirty="0">
                <a:latin typeface="Arial Black"/>
                <a:cs typeface="Arial Black"/>
              </a:rPr>
              <a:t>Attainment</a:t>
            </a:r>
            <a:r>
              <a:rPr sz="2200" spc="-180" dirty="0">
                <a:latin typeface="Arial Black"/>
                <a:cs typeface="Arial Black"/>
              </a:rPr>
              <a:t> </a:t>
            </a:r>
            <a:r>
              <a:rPr sz="2200" spc="-85" dirty="0">
                <a:latin typeface="Arial Black"/>
                <a:cs typeface="Arial Black"/>
              </a:rPr>
              <a:t>from</a:t>
            </a:r>
            <a:r>
              <a:rPr sz="2200" spc="-180" dirty="0">
                <a:latin typeface="Arial Black"/>
                <a:cs typeface="Arial Black"/>
              </a:rPr>
              <a:t> </a:t>
            </a:r>
            <a:r>
              <a:rPr sz="2200" spc="-120" dirty="0">
                <a:latin typeface="Arial Black"/>
                <a:cs typeface="Arial Black"/>
              </a:rPr>
              <a:t>the</a:t>
            </a:r>
            <a:r>
              <a:rPr sz="2200" spc="-180" dirty="0">
                <a:latin typeface="Arial Black"/>
                <a:cs typeface="Arial Black"/>
              </a:rPr>
              <a:t> </a:t>
            </a:r>
            <a:r>
              <a:rPr sz="2200" spc="-140" dirty="0">
                <a:latin typeface="Arial Black"/>
                <a:cs typeface="Arial Black"/>
              </a:rPr>
              <a:t>Given</a:t>
            </a:r>
            <a:r>
              <a:rPr sz="2200" spc="-180" dirty="0">
                <a:latin typeface="Arial Black"/>
                <a:cs typeface="Arial Black"/>
              </a:rPr>
              <a:t> </a:t>
            </a:r>
            <a:r>
              <a:rPr sz="2200" spc="-20" dirty="0">
                <a:latin typeface="Arial Black"/>
                <a:cs typeface="Arial Black"/>
              </a:rPr>
              <a:t>Code</a:t>
            </a:r>
            <a:endParaRPr sz="22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3030"/>
              </a:spcBef>
            </a:pPr>
            <a:endParaRPr sz="2200">
              <a:latin typeface="Arial Black"/>
              <a:cs typeface="Arial Black"/>
            </a:endParaRPr>
          </a:p>
          <a:p>
            <a:pPr marR="20955">
              <a:lnSpc>
                <a:spcPct val="112500"/>
              </a:lnSpc>
            </a:pPr>
            <a:r>
              <a:rPr sz="1000" spc="-35" dirty="0">
                <a:latin typeface="Verdana"/>
                <a:cs typeface="Verdana"/>
              </a:rPr>
              <a:t>The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5" dirty="0">
                <a:latin typeface="Verdana"/>
                <a:cs typeface="Verdana"/>
              </a:rPr>
              <a:t>project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uses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proper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90" dirty="0">
                <a:latin typeface="Arial Black"/>
                <a:cs typeface="Arial Black"/>
              </a:rPr>
              <a:t>HTML</a:t>
            </a:r>
            <a:r>
              <a:rPr sz="1000" spc="-70" dirty="0">
                <a:latin typeface="Arial Black"/>
                <a:cs typeface="Arial Black"/>
              </a:rPr>
              <a:t> structure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with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sections,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navigation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50" dirty="0">
                <a:latin typeface="Verdana"/>
                <a:cs typeface="Verdana"/>
              </a:rPr>
              <a:t>bar,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headings, </a:t>
            </a:r>
            <a:r>
              <a:rPr sz="1000" spc="-40" dirty="0">
                <a:latin typeface="Verdana"/>
                <a:cs typeface="Verdana"/>
              </a:rPr>
              <a:t>forms,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buttons.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Basic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14" dirty="0">
                <a:latin typeface="Arial Black"/>
                <a:cs typeface="Arial Black"/>
              </a:rPr>
              <a:t>CSS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styling</a:t>
            </a:r>
            <a:r>
              <a:rPr sz="1000" spc="-5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Verdana"/>
                <a:cs typeface="Verdana"/>
              </a:rPr>
              <a:t>is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applied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for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background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60" dirty="0">
                <a:latin typeface="Verdana"/>
                <a:cs typeface="Verdana"/>
              </a:rPr>
              <a:t>images,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colors,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fonts,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layout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design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to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create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55" dirty="0">
                <a:latin typeface="Verdana"/>
                <a:cs typeface="Verdana"/>
              </a:rPr>
              <a:t>a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visually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appealing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web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interface.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12500"/>
              </a:lnSpc>
            </a:pPr>
            <a:r>
              <a:rPr sz="1000" spc="-35" dirty="0">
                <a:latin typeface="Verdana"/>
                <a:cs typeface="Verdana"/>
              </a:rPr>
              <a:t>The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application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includes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45" dirty="0">
                <a:latin typeface="Arial Black"/>
                <a:cs typeface="Arial Black"/>
              </a:rPr>
              <a:t>input</a:t>
            </a:r>
            <a:r>
              <a:rPr sz="1000" spc="-65" dirty="0">
                <a:latin typeface="Arial Black"/>
                <a:cs typeface="Arial Black"/>
              </a:rPr>
              <a:t> forms </a:t>
            </a:r>
            <a:r>
              <a:rPr sz="1000" spc="-60" dirty="0">
                <a:latin typeface="Arial Black"/>
                <a:cs typeface="Arial Black"/>
              </a:rPr>
              <a:t>and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dropdown</a:t>
            </a:r>
            <a:r>
              <a:rPr sz="1000" spc="-65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menus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dirty="0">
                <a:latin typeface="Verdana"/>
                <a:cs typeface="Verdana"/>
              </a:rPr>
              <a:t>to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collect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soil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type, </a:t>
            </a:r>
            <a:r>
              <a:rPr sz="1000" spc="-30" dirty="0">
                <a:latin typeface="Verdana"/>
                <a:cs typeface="Verdana"/>
              </a:rPr>
              <a:t>rainfall,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temperature.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65" dirty="0">
                <a:latin typeface="Verdana"/>
                <a:cs typeface="Verdana"/>
              </a:rPr>
              <a:t>CSS </a:t>
            </a:r>
            <a:r>
              <a:rPr sz="1000" spc="-25" dirty="0">
                <a:latin typeface="Verdana"/>
                <a:cs typeface="Verdana"/>
              </a:rPr>
              <a:t>is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used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dirty="0">
                <a:latin typeface="Verdana"/>
                <a:cs typeface="Verdana"/>
              </a:rPr>
              <a:t>for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layout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design,</a:t>
            </a:r>
            <a:r>
              <a:rPr sz="1000" spc="-50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overlays,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navigation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bar,</a:t>
            </a:r>
            <a:r>
              <a:rPr sz="1000" spc="-50" dirty="0">
                <a:latin typeface="Arial Black"/>
                <a:cs typeface="Arial Black"/>
              </a:rPr>
              <a:t> </a:t>
            </a:r>
            <a:r>
              <a:rPr sz="1000" spc="-25" dirty="0">
                <a:latin typeface="Arial Black"/>
                <a:cs typeface="Arial Black"/>
              </a:rPr>
              <a:t>and </a:t>
            </a:r>
            <a:r>
              <a:rPr sz="1000" spc="-65" dirty="0">
                <a:latin typeface="Arial Black"/>
                <a:cs typeface="Arial Black"/>
              </a:rPr>
              <a:t>styled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70" dirty="0">
                <a:latin typeface="Arial Black"/>
                <a:cs typeface="Arial Black"/>
              </a:rPr>
              <a:t>containers</a:t>
            </a:r>
            <a:r>
              <a:rPr sz="1000" spc="-70" dirty="0">
                <a:latin typeface="Verdana"/>
                <a:cs typeface="Verdana"/>
              </a:rPr>
              <a:t>,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demonstrating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advanced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layout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form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design.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00">
              <a:latin typeface="Verdana"/>
              <a:cs typeface="Verdana"/>
            </a:endParaRPr>
          </a:p>
          <a:p>
            <a:pPr marR="13335">
              <a:lnSpc>
                <a:spcPct val="112500"/>
              </a:lnSpc>
            </a:pPr>
            <a:r>
              <a:rPr sz="1000" spc="-35" dirty="0">
                <a:latin typeface="Verdana"/>
                <a:cs typeface="Verdana"/>
              </a:rPr>
              <a:t>The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system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implements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JavaScript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functions,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loops, </a:t>
            </a:r>
            <a:r>
              <a:rPr sz="1000" spc="-80" dirty="0">
                <a:latin typeface="Arial Black"/>
                <a:cs typeface="Arial Black"/>
              </a:rPr>
              <a:t>arrays,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and</a:t>
            </a:r>
            <a:r>
              <a:rPr sz="1000" spc="-55" dirty="0">
                <a:latin typeface="Arial Black"/>
                <a:cs typeface="Arial Black"/>
              </a:rPr>
              <a:t> </a:t>
            </a:r>
            <a:r>
              <a:rPr sz="1000" spc="-75" dirty="0">
                <a:latin typeface="Arial Black"/>
                <a:cs typeface="Arial Black"/>
              </a:rPr>
              <a:t>objects</a:t>
            </a:r>
            <a:r>
              <a:rPr sz="1000" spc="-45" dirty="0">
                <a:latin typeface="Arial Black"/>
                <a:cs typeface="Arial Black"/>
              </a:rPr>
              <a:t> </a:t>
            </a:r>
            <a:r>
              <a:rPr sz="1000" dirty="0">
                <a:latin typeface="Verdana"/>
                <a:cs typeface="Verdana"/>
              </a:rPr>
              <a:t>for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crop prediction.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Crop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data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is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stored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in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arrays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30" dirty="0">
                <a:latin typeface="Arial Black"/>
                <a:cs typeface="Arial Black"/>
              </a:rPr>
              <a:t>of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objects</a:t>
            </a:r>
            <a:r>
              <a:rPr sz="1000" spc="-80" dirty="0">
                <a:latin typeface="Verdana"/>
                <a:cs typeface="Verdana"/>
              </a:rPr>
              <a:t>,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logical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conditions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are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used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to </a:t>
            </a:r>
            <a:r>
              <a:rPr sz="1000" spc="-30" dirty="0">
                <a:latin typeface="Verdana"/>
                <a:cs typeface="Verdana"/>
              </a:rPr>
              <a:t>determine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suitable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crops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based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on</a:t>
            </a:r>
            <a:r>
              <a:rPr sz="1000" spc="-65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user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input.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000">
              <a:latin typeface="Verdana"/>
              <a:cs typeface="Verdana"/>
            </a:endParaRPr>
          </a:p>
          <a:p>
            <a:pPr marR="107950">
              <a:lnSpc>
                <a:spcPct val="112500"/>
              </a:lnSpc>
              <a:spcBef>
                <a:spcPts val="5"/>
              </a:spcBef>
            </a:pPr>
            <a:r>
              <a:rPr sz="1000" spc="-35" dirty="0">
                <a:latin typeface="Verdana"/>
                <a:cs typeface="Verdana"/>
              </a:rPr>
              <a:t>The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15" dirty="0">
                <a:latin typeface="Verdana"/>
                <a:cs typeface="Verdana"/>
              </a:rPr>
              <a:t>project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uses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50" dirty="0">
                <a:latin typeface="Arial Black"/>
                <a:cs typeface="Arial Black"/>
              </a:rPr>
              <a:t>DOM</a:t>
            </a:r>
            <a:r>
              <a:rPr sz="1000" spc="-75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manipulation</a:t>
            </a:r>
            <a:r>
              <a:rPr sz="1000" spc="-75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and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event</a:t>
            </a:r>
            <a:r>
              <a:rPr sz="1000" spc="-75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handling </a:t>
            </a:r>
            <a:r>
              <a:rPr sz="1000" spc="-25" dirty="0">
                <a:latin typeface="Verdana"/>
                <a:cs typeface="Verdana"/>
              </a:rPr>
              <a:t>such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50" dirty="0">
                <a:latin typeface="Verdana"/>
                <a:cs typeface="Verdana"/>
              </a:rPr>
              <a:t>as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button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clicks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to </a:t>
            </a:r>
            <a:r>
              <a:rPr sz="1000" spc="-20" dirty="0">
                <a:latin typeface="Verdana"/>
                <a:cs typeface="Verdana"/>
              </a:rPr>
              <a:t>switch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sections,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update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prediction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40" dirty="0">
                <a:latin typeface="Verdana"/>
                <a:cs typeface="Verdana"/>
              </a:rPr>
              <a:t>results,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display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irrigation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55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harvest</a:t>
            </a:r>
            <a:r>
              <a:rPr sz="1000" spc="-6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advice </a:t>
            </a:r>
            <a:r>
              <a:rPr sz="1000" spc="-25" dirty="0">
                <a:latin typeface="Verdana"/>
                <a:cs typeface="Verdana"/>
              </a:rPr>
              <a:t>dynamically</a:t>
            </a:r>
            <a:r>
              <a:rPr sz="1000" spc="-50" dirty="0">
                <a:latin typeface="Verdana"/>
                <a:cs typeface="Verdana"/>
              </a:rPr>
              <a:t> </a:t>
            </a:r>
            <a:r>
              <a:rPr sz="1000" spc="-45" dirty="0">
                <a:latin typeface="Verdana"/>
                <a:cs typeface="Verdana"/>
              </a:rPr>
              <a:t>using </a:t>
            </a:r>
            <a:r>
              <a:rPr sz="1000" spc="-10" dirty="0">
                <a:latin typeface="Verdana"/>
                <a:cs typeface="Verdana"/>
              </a:rPr>
              <a:t>JavaScript.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0">
              <a:latin typeface="Verdana"/>
              <a:cs typeface="Verdana"/>
            </a:endParaRPr>
          </a:p>
          <a:p>
            <a:pPr marR="169545">
              <a:lnSpc>
                <a:spcPct val="112500"/>
              </a:lnSpc>
              <a:spcBef>
                <a:spcPts val="5"/>
              </a:spcBef>
            </a:pPr>
            <a:r>
              <a:rPr sz="1000" spc="-35" dirty="0">
                <a:latin typeface="Verdana"/>
                <a:cs typeface="Verdana"/>
              </a:rPr>
              <a:t>The</a:t>
            </a:r>
            <a:r>
              <a:rPr sz="1000" spc="-85" dirty="0">
                <a:latin typeface="Verdana"/>
                <a:cs typeface="Verdana"/>
              </a:rPr>
              <a:t> </a:t>
            </a:r>
            <a:r>
              <a:rPr sz="1000" spc="-15" dirty="0">
                <a:latin typeface="Verdana"/>
                <a:cs typeface="Verdana"/>
              </a:rPr>
              <a:t>project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35" dirty="0">
                <a:latin typeface="Verdana"/>
                <a:cs typeface="Verdana"/>
              </a:rPr>
              <a:t>integrates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85" dirty="0">
                <a:latin typeface="Arial Black"/>
                <a:cs typeface="Arial Black"/>
              </a:rPr>
              <a:t>HTML,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105" dirty="0">
                <a:latin typeface="Arial Black"/>
                <a:cs typeface="Arial Black"/>
              </a:rPr>
              <a:t>CSS,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and</a:t>
            </a:r>
            <a:r>
              <a:rPr sz="1000" spc="-70" dirty="0">
                <a:latin typeface="Arial Black"/>
                <a:cs typeface="Arial Black"/>
              </a:rPr>
              <a:t> </a:t>
            </a:r>
            <a:r>
              <a:rPr sz="1000" spc="-80" dirty="0">
                <a:latin typeface="Arial Black"/>
                <a:cs typeface="Arial Black"/>
              </a:rPr>
              <a:t>JavaScript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10" dirty="0">
                <a:latin typeface="Verdana"/>
                <a:cs typeface="Verdana"/>
              </a:rPr>
              <a:t>into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55" dirty="0">
                <a:latin typeface="Verdana"/>
                <a:cs typeface="Verdana"/>
              </a:rPr>
              <a:t>a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complete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web</a:t>
            </a:r>
            <a:r>
              <a:rPr sz="1000" spc="-8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application </a:t>
            </a:r>
            <a:r>
              <a:rPr sz="1000" spc="-25" dirty="0">
                <a:latin typeface="Verdana"/>
                <a:cs typeface="Verdana"/>
              </a:rPr>
              <a:t>that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can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be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20" dirty="0">
                <a:latin typeface="Verdana"/>
                <a:cs typeface="Verdana"/>
              </a:rPr>
              <a:t>uploaded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30" dirty="0">
                <a:latin typeface="Verdana"/>
                <a:cs typeface="Verdana"/>
              </a:rPr>
              <a:t>and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50" dirty="0">
                <a:latin typeface="Verdana"/>
                <a:cs typeface="Verdana"/>
              </a:rPr>
              <a:t>managed</a:t>
            </a:r>
            <a:r>
              <a:rPr sz="1000" spc="-75" dirty="0">
                <a:latin typeface="Verdana"/>
                <a:cs typeface="Verdana"/>
              </a:rPr>
              <a:t> </a:t>
            </a:r>
            <a:r>
              <a:rPr sz="1000" spc="-45" dirty="0">
                <a:latin typeface="Verdana"/>
                <a:cs typeface="Verdana"/>
              </a:rPr>
              <a:t>using</a:t>
            </a:r>
            <a:r>
              <a:rPr sz="1000" spc="-70" dirty="0">
                <a:latin typeface="Verdana"/>
                <a:cs typeface="Verdana"/>
              </a:rPr>
              <a:t> </a:t>
            </a:r>
            <a:r>
              <a:rPr sz="1000" spc="-60" dirty="0">
                <a:latin typeface="Arial Black"/>
                <a:cs typeface="Arial Black"/>
              </a:rPr>
              <a:t>GitHub </a:t>
            </a:r>
            <a:r>
              <a:rPr sz="1000" spc="-35" dirty="0">
                <a:latin typeface="Arial Black"/>
                <a:cs typeface="Arial Black"/>
              </a:rPr>
              <a:t>for</a:t>
            </a:r>
            <a:r>
              <a:rPr sz="1000" spc="-60" dirty="0">
                <a:latin typeface="Arial Black"/>
                <a:cs typeface="Arial Black"/>
              </a:rPr>
              <a:t> </a:t>
            </a:r>
            <a:r>
              <a:rPr sz="1000" spc="-65" dirty="0">
                <a:latin typeface="Arial Black"/>
                <a:cs typeface="Arial Black"/>
              </a:rPr>
              <a:t>version </a:t>
            </a:r>
            <a:r>
              <a:rPr sz="1000" spc="-60" dirty="0">
                <a:latin typeface="Arial Black"/>
                <a:cs typeface="Arial Black"/>
              </a:rPr>
              <a:t>control and </a:t>
            </a:r>
            <a:r>
              <a:rPr sz="1000" spc="-50" dirty="0">
                <a:latin typeface="Arial Black"/>
                <a:cs typeface="Arial Black"/>
              </a:rPr>
              <a:t>d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9851" rIns="0" bIns="0" rtlCol="0">
            <a:spAutoFit/>
          </a:bodyPr>
          <a:lstStyle/>
          <a:p>
            <a:pPr marL="808355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FWD</a:t>
            </a:r>
            <a:r>
              <a:rPr spc="-315" dirty="0"/>
              <a:t> </a:t>
            </a:r>
            <a:r>
              <a:rPr spc="-75" dirty="0"/>
              <a:t>CO’S</a:t>
            </a:r>
            <a:r>
              <a:rPr spc="-315" dirty="0"/>
              <a:t> </a:t>
            </a:r>
            <a:r>
              <a:rPr spc="-114" dirty="0"/>
              <a:t>ATTAINMENT:</a:t>
            </a: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9D22F883-235F-70B1-B20E-B1D3091F70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6874" y="79226"/>
            <a:ext cx="3429000" cy="19745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498" y="377494"/>
            <a:ext cx="8048609" cy="42290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377494"/>
            <a:ext cx="7581899" cy="42290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498" y="5143530"/>
            <a:ext cx="8210549" cy="43719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976176" y="5143530"/>
            <a:ext cx="7953390" cy="43719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882" y="595121"/>
            <a:ext cx="7086599" cy="384808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3690" y="595121"/>
            <a:ext cx="6781799" cy="38480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210" y="5068610"/>
            <a:ext cx="7267590" cy="4190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18571" y="4990033"/>
            <a:ext cx="8733707" cy="43433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293114" y="565634"/>
              <a:ext cx="397510" cy="29209"/>
            </a:xfrm>
            <a:custGeom>
              <a:avLst/>
              <a:gdLst/>
              <a:ahLst/>
              <a:cxnLst/>
              <a:rect l="l" t="t" r="r" b="b"/>
              <a:pathLst>
                <a:path w="397509" h="29209">
                  <a:moveTo>
                    <a:pt x="397340" y="28996"/>
                  </a:moveTo>
                  <a:lnTo>
                    <a:pt x="0" y="28996"/>
                  </a:lnTo>
                  <a:lnTo>
                    <a:pt x="0" y="0"/>
                  </a:lnTo>
                  <a:lnTo>
                    <a:pt x="397340" y="0"/>
                  </a:lnTo>
                  <a:lnTo>
                    <a:pt x="397340" y="28996"/>
                  </a:lnTo>
                  <a:close/>
                </a:path>
              </a:pathLst>
            </a:custGeom>
            <a:solidFill>
              <a:srgbClr val="D09C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869" y="345588"/>
              <a:ext cx="2628899" cy="14096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7659275" y="9639409"/>
            <a:ext cx="22923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10" dirty="0">
                <a:solidFill>
                  <a:srgbClr val="FFFFFF"/>
                </a:solidFill>
                <a:latin typeface="Arial Black"/>
                <a:cs typeface="Arial Black"/>
              </a:rPr>
              <a:t>01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9081" y="1933738"/>
            <a:ext cx="509714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50" spc="-125" dirty="0">
                <a:solidFill>
                  <a:srgbClr val="FFFFFF"/>
                </a:solidFill>
              </a:rPr>
              <a:t>Conclusion:</a:t>
            </a:r>
            <a:endParaRPr sz="7050"/>
          </a:p>
        </p:txBody>
      </p:sp>
      <p:grpSp>
        <p:nvGrpSpPr>
          <p:cNvPr id="8" name="object 8"/>
          <p:cNvGrpSpPr/>
          <p:nvPr/>
        </p:nvGrpSpPr>
        <p:grpSpPr>
          <a:xfrm>
            <a:off x="621244" y="3400470"/>
            <a:ext cx="133350" cy="5562600"/>
            <a:chOff x="621244" y="3400470"/>
            <a:chExt cx="133350" cy="556260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1244" y="3400470"/>
              <a:ext cx="133350" cy="1333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244" y="4486320"/>
              <a:ext cx="133350" cy="13335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244" y="5029245"/>
              <a:ext cx="133350" cy="1333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244" y="6115095"/>
              <a:ext cx="133350" cy="13335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244" y="7200945"/>
              <a:ext cx="133350" cy="1333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244" y="8286795"/>
              <a:ext cx="133350" cy="1333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1244" y="8829720"/>
              <a:ext cx="133350" cy="133350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100"/>
              </a:spcBef>
              <a:tabLst>
                <a:tab pos="943610" algn="l"/>
                <a:tab pos="3100070" algn="l"/>
                <a:tab pos="4852035" algn="l"/>
                <a:tab pos="5638800" algn="l"/>
                <a:tab pos="7077075" algn="l"/>
                <a:tab pos="8441055" algn="l"/>
                <a:tab pos="10031095" algn="l"/>
                <a:tab pos="11297285" algn="l"/>
                <a:tab pos="13007975" algn="l"/>
                <a:tab pos="1423987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Predictive</a:t>
            </a:r>
            <a:r>
              <a:rPr dirty="0"/>
              <a:t>	</a:t>
            </a:r>
            <a:r>
              <a:rPr spc="-10" dirty="0"/>
              <a:t>Farming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10" dirty="0"/>
              <a:t>Better</a:t>
            </a:r>
            <a:r>
              <a:rPr dirty="0"/>
              <a:t>	</a:t>
            </a:r>
            <a:r>
              <a:rPr spc="-10" dirty="0"/>
              <a:t>Yields</a:t>
            </a:r>
            <a:r>
              <a:rPr dirty="0"/>
              <a:t>	</a:t>
            </a:r>
            <a:r>
              <a:rPr spc="-10" dirty="0"/>
              <a:t>system</a:t>
            </a:r>
            <a:r>
              <a:rPr dirty="0"/>
              <a:t>	</a:t>
            </a:r>
            <a:r>
              <a:rPr spc="-10" dirty="0"/>
              <a:t>helps</a:t>
            </a:r>
            <a:r>
              <a:rPr dirty="0"/>
              <a:t>	</a:t>
            </a:r>
            <a:r>
              <a:rPr spc="-10" dirty="0"/>
              <a:t>farmers</a:t>
            </a:r>
            <a:r>
              <a:rPr dirty="0"/>
              <a:t>	</a:t>
            </a:r>
            <a:r>
              <a:rPr spc="-20" dirty="0"/>
              <a:t>make</a:t>
            </a:r>
            <a:r>
              <a:rPr dirty="0"/>
              <a:t>	</a:t>
            </a:r>
            <a:r>
              <a:rPr spc="-20" dirty="0"/>
              <a:t>better </a:t>
            </a:r>
            <a:r>
              <a:rPr spc="-60" dirty="0"/>
              <a:t>agricultural</a:t>
            </a:r>
            <a:r>
              <a:rPr spc="-290" dirty="0"/>
              <a:t> </a:t>
            </a:r>
            <a:r>
              <a:rPr spc="-30" dirty="0"/>
              <a:t>decisions</a:t>
            </a:r>
            <a:r>
              <a:rPr spc="-285" dirty="0"/>
              <a:t> </a:t>
            </a:r>
            <a:r>
              <a:rPr spc="-105" dirty="0"/>
              <a:t>using</a:t>
            </a:r>
            <a:r>
              <a:rPr spc="-285" dirty="0"/>
              <a:t> </a:t>
            </a:r>
            <a:r>
              <a:rPr spc="-70" dirty="0"/>
              <a:t>data</a:t>
            </a:r>
            <a:r>
              <a:rPr spc="-285" dirty="0"/>
              <a:t> </a:t>
            </a:r>
            <a:r>
              <a:rPr spc="-10" dirty="0"/>
              <a:t>analysis.</a:t>
            </a: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pc="-180" dirty="0"/>
              <a:t>It</a:t>
            </a:r>
            <a:r>
              <a:rPr spc="-290" dirty="0"/>
              <a:t> </a:t>
            </a:r>
            <a:r>
              <a:rPr spc="-110" dirty="0"/>
              <a:t>analyzes</a:t>
            </a:r>
            <a:r>
              <a:rPr spc="-290" dirty="0"/>
              <a:t> </a:t>
            </a:r>
            <a:r>
              <a:rPr spc="-20" dirty="0"/>
              <a:t>soil</a:t>
            </a:r>
            <a:r>
              <a:rPr spc="-290" dirty="0"/>
              <a:t> </a:t>
            </a:r>
            <a:r>
              <a:rPr spc="-100" dirty="0"/>
              <a:t>type,</a:t>
            </a:r>
            <a:r>
              <a:rPr spc="-290" dirty="0"/>
              <a:t> </a:t>
            </a:r>
            <a:r>
              <a:rPr spc="-100" dirty="0"/>
              <a:t>temperature,</a:t>
            </a:r>
            <a:r>
              <a:rPr spc="-285" dirty="0"/>
              <a:t> </a:t>
            </a:r>
            <a:r>
              <a:rPr spc="-65" dirty="0"/>
              <a:t>and</a:t>
            </a:r>
            <a:r>
              <a:rPr spc="-290" dirty="0"/>
              <a:t> </a:t>
            </a:r>
            <a:r>
              <a:rPr spc="-45" dirty="0"/>
              <a:t>rainfall</a:t>
            </a:r>
            <a:r>
              <a:rPr spc="-290" dirty="0"/>
              <a:t> </a:t>
            </a:r>
            <a:r>
              <a:rPr dirty="0"/>
              <a:t>to</a:t>
            </a:r>
            <a:r>
              <a:rPr spc="-290" dirty="0"/>
              <a:t> </a:t>
            </a:r>
            <a:r>
              <a:rPr spc="-65" dirty="0"/>
              <a:t>recommend</a:t>
            </a:r>
            <a:r>
              <a:rPr spc="-285" dirty="0"/>
              <a:t> </a:t>
            </a:r>
            <a:r>
              <a:rPr spc="-45" dirty="0"/>
              <a:t>suitable</a:t>
            </a:r>
            <a:r>
              <a:rPr spc="-290" dirty="0"/>
              <a:t> </a:t>
            </a:r>
            <a:r>
              <a:rPr spc="-10" dirty="0"/>
              <a:t>crops.</a:t>
            </a:r>
          </a:p>
          <a:p>
            <a:pPr marL="12700" marR="5080">
              <a:lnSpc>
                <a:spcPct val="114900"/>
              </a:lnSpc>
            </a:pPr>
            <a:r>
              <a:rPr dirty="0"/>
              <a:t>The</a:t>
            </a:r>
            <a:r>
              <a:rPr spc="-270" dirty="0"/>
              <a:t> </a:t>
            </a:r>
            <a:r>
              <a:rPr dirty="0"/>
              <a:t>application</a:t>
            </a:r>
            <a:r>
              <a:rPr spc="-180" dirty="0"/>
              <a:t> </a:t>
            </a:r>
            <a:r>
              <a:rPr dirty="0"/>
              <a:t>is</a:t>
            </a:r>
            <a:r>
              <a:rPr spc="-175" dirty="0"/>
              <a:t> </a:t>
            </a:r>
            <a:r>
              <a:rPr dirty="0"/>
              <a:t>developed</a:t>
            </a:r>
            <a:r>
              <a:rPr spc="-175" dirty="0"/>
              <a:t> </a:t>
            </a:r>
            <a:r>
              <a:rPr spc="-60" dirty="0"/>
              <a:t>using</a:t>
            </a:r>
            <a:r>
              <a:rPr spc="-175" dirty="0"/>
              <a:t> </a:t>
            </a:r>
            <a:r>
              <a:rPr dirty="0"/>
              <a:t>HTML,</a:t>
            </a:r>
            <a:r>
              <a:rPr spc="-175" dirty="0"/>
              <a:t> </a:t>
            </a:r>
            <a:r>
              <a:rPr spc="-190" dirty="0"/>
              <a:t>CSS,</a:t>
            </a:r>
            <a:r>
              <a:rPr spc="-80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spc="-10" dirty="0"/>
              <a:t>JavaScript</a:t>
            </a:r>
            <a:r>
              <a:rPr spc="-175" dirty="0"/>
              <a:t> </a:t>
            </a:r>
            <a:r>
              <a:rPr dirty="0"/>
              <a:t>with</a:t>
            </a:r>
            <a:r>
              <a:rPr spc="-175" dirty="0"/>
              <a:t> </a:t>
            </a:r>
            <a:r>
              <a:rPr spc="-10" dirty="0"/>
              <a:t>simple</a:t>
            </a:r>
            <a:r>
              <a:rPr spc="-175" dirty="0"/>
              <a:t> </a:t>
            </a:r>
            <a:r>
              <a:rPr spc="-20" dirty="0"/>
              <a:t>data </a:t>
            </a:r>
            <a:r>
              <a:rPr spc="-10" dirty="0"/>
              <a:t>structures.</a:t>
            </a:r>
          </a:p>
          <a:p>
            <a:pPr marL="12700" marR="5080">
              <a:lnSpc>
                <a:spcPct val="114900"/>
              </a:lnSpc>
              <a:tabLst>
                <a:tab pos="984250" algn="l"/>
                <a:tab pos="2615565" algn="l"/>
                <a:tab pos="4543425" algn="l"/>
                <a:tab pos="6734809" algn="l"/>
                <a:tab pos="8581390" algn="l"/>
                <a:tab pos="9493885" algn="l"/>
                <a:tab pos="11489690" algn="l"/>
                <a:tab pos="13009244" algn="l"/>
                <a:tab pos="13997940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system</a:t>
            </a:r>
            <a:r>
              <a:rPr dirty="0"/>
              <a:t>	</a:t>
            </a:r>
            <a:r>
              <a:rPr spc="-10" dirty="0"/>
              <a:t>provides</a:t>
            </a:r>
            <a:r>
              <a:rPr dirty="0"/>
              <a:t>	</a:t>
            </a:r>
            <a:r>
              <a:rPr spc="-10" dirty="0"/>
              <a:t>additional</a:t>
            </a:r>
            <a:r>
              <a:rPr dirty="0"/>
              <a:t>	</a:t>
            </a:r>
            <a:r>
              <a:rPr spc="-10" dirty="0"/>
              <a:t>features</a:t>
            </a:r>
            <a:r>
              <a:rPr dirty="0"/>
              <a:t>	</a:t>
            </a:r>
            <a:r>
              <a:rPr spc="-20" dirty="0"/>
              <a:t>like</a:t>
            </a:r>
            <a:r>
              <a:rPr dirty="0"/>
              <a:t>	</a:t>
            </a:r>
            <a:r>
              <a:rPr spc="-10" dirty="0"/>
              <a:t>irrigation</a:t>
            </a:r>
            <a:r>
              <a:rPr dirty="0"/>
              <a:t>	</a:t>
            </a:r>
            <a:r>
              <a:rPr spc="-10" dirty="0"/>
              <a:t>advice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70" dirty="0"/>
              <a:t>harvest </a:t>
            </a:r>
            <a:r>
              <a:rPr spc="-10" dirty="0"/>
              <a:t>planning.</a:t>
            </a:r>
          </a:p>
          <a:p>
            <a:pPr marL="12700" marR="5080">
              <a:lnSpc>
                <a:spcPct val="114900"/>
              </a:lnSpc>
              <a:tabLst>
                <a:tab pos="542290" algn="l"/>
                <a:tab pos="2391410" algn="l"/>
                <a:tab pos="2860675" algn="l"/>
                <a:tab pos="5563870" algn="l"/>
                <a:tab pos="7523480" algn="l"/>
                <a:tab pos="8593455" algn="l"/>
                <a:tab pos="11672570" algn="l"/>
                <a:tab pos="13434060" algn="l"/>
                <a:tab pos="14239875" algn="l"/>
              </a:tabLst>
            </a:pPr>
            <a:r>
              <a:rPr spc="-25" dirty="0"/>
              <a:t>It</a:t>
            </a:r>
            <a:r>
              <a:rPr dirty="0"/>
              <a:t>	</a:t>
            </a:r>
            <a:r>
              <a:rPr spc="-10" dirty="0"/>
              <a:t>includes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20" dirty="0"/>
              <a:t>user-</a:t>
            </a:r>
            <a:r>
              <a:rPr spc="-10" dirty="0"/>
              <a:t>friendly</a:t>
            </a:r>
            <a:r>
              <a:rPr dirty="0"/>
              <a:t>	</a:t>
            </a:r>
            <a:r>
              <a:rPr spc="-10" dirty="0"/>
              <a:t>interface</a:t>
            </a:r>
            <a:r>
              <a:rPr dirty="0"/>
              <a:t>	</a:t>
            </a:r>
            <a:r>
              <a:rPr spc="-20" dirty="0"/>
              <a:t>with</a:t>
            </a:r>
            <a:r>
              <a:rPr dirty="0"/>
              <a:t>	</a:t>
            </a:r>
            <a:r>
              <a:rPr spc="-85" dirty="0"/>
              <a:t>multi-</a:t>
            </a:r>
            <a:r>
              <a:rPr spc="-10" dirty="0"/>
              <a:t>language</a:t>
            </a:r>
            <a:r>
              <a:rPr dirty="0"/>
              <a:t>	</a:t>
            </a:r>
            <a:r>
              <a:rPr spc="-10" dirty="0"/>
              <a:t>support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20" dirty="0"/>
              <a:t>better </a:t>
            </a:r>
            <a:r>
              <a:rPr spc="-10" dirty="0"/>
              <a:t>accessibility.</a:t>
            </a:r>
          </a:p>
          <a:p>
            <a:pPr marL="12700" marR="467359">
              <a:lnSpc>
                <a:spcPct val="106900"/>
              </a:lnSpc>
              <a:spcBef>
                <a:spcPts val="300"/>
              </a:spcBef>
            </a:pPr>
            <a:r>
              <a:rPr spc="-95" dirty="0"/>
              <a:t>The</a:t>
            </a:r>
            <a:r>
              <a:rPr spc="-295" dirty="0"/>
              <a:t> </a:t>
            </a:r>
            <a:r>
              <a:rPr spc="-40" dirty="0"/>
              <a:t>project</a:t>
            </a:r>
            <a:r>
              <a:rPr spc="-290" dirty="0"/>
              <a:t> </a:t>
            </a:r>
            <a:r>
              <a:rPr spc="-50" dirty="0"/>
              <a:t>promotes</a:t>
            </a:r>
            <a:r>
              <a:rPr spc="-290" dirty="0"/>
              <a:t> </a:t>
            </a:r>
            <a:r>
              <a:rPr dirty="0"/>
              <a:t>efficient</a:t>
            </a:r>
            <a:r>
              <a:rPr spc="-295" dirty="0"/>
              <a:t> </a:t>
            </a:r>
            <a:r>
              <a:rPr spc="-55" dirty="0"/>
              <a:t>resource</a:t>
            </a:r>
            <a:r>
              <a:rPr spc="-290" dirty="0"/>
              <a:t> </a:t>
            </a:r>
            <a:r>
              <a:rPr spc="-140" dirty="0"/>
              <a:t>usage</a:t>
            </a:r>
            <a:r>
              <a:rPr spc="-290" dirty="0"/>
              <a:t> </a:t>
            </a:r>
            <a:r>
              <a:rPr spc="-65" dirty="0"/>
              <a:t>and</a:t>
            </a:r>
            <a:r>
              <a:rPr spc="-290" dirty="0"/>
              <a:t> </a:t>
            </a:r>
            <a:r>
              <a:rPr spc="-60" dirty="0"/>
              <a:t>improved</a:t>
            </a:r>
            <a:r>
              <a:rPr spc="-295" dirty="0"/>
              <a:t> </a:t>
            </a:r>
            <a:r>
              <a:rPr dirty="0"/>
              <a:t>crop</a:t>
            </a:r>
            <a:r>
              <a:rPr spc="-290" dirty="0"/>
              <a:t> </a:t>
            </a:r>
            <a:r>
              <a:rPr spc="-10" dirty="0"/>
              <a:t>productivity. </a:t>
            </a:r>
            <a:r>
              <a:rPr spc="-180" dirty="0"/>
              <a:t>It</a:t>
            </a:r>
            <a:r>
              <a:rPr spc="-275" dirty="0"/>
              <a:t> </a:t>
            </a:r>
            <a:r>
              <a:rPr spc="-85" dirty="0"/>
              <a:t>encourages</a:t>
            </a:r>
            <a:r>
              <a:rPr spc="-275" dirty="0"/>
              <a:t> </a:t>
            </a:r>
            <a:r>
              <a:rPr spc="-65" dirty="0"/>
              <a:t>sustainable</a:t>
            </a:r>
            <a:r>
              <a:rPr spc="-275" dirty="0"/>
              <a:t> </a:t>
            </a:r>
            <a:r>
              <a:rPr spc="-65" dirty="0"/>
              <a:t>and</a:t>
            </a:r>
            <a:r>
              <a:rPr spc="-270" dirty="0"/>
              <a:t> </a:t>
            </a:r>
            <a:r>
              <a:rPr spc="-110" dirty="0"/>
              <a:t>data-</a:t>
            </a:r>
            <a:r>
              <a:rPr spc="-55" dirty="0"/>
              <a:t>driven</a:t>
            </a:r>
            <a:r>
              <a:rPr spc="-275" dirty="0"/>
              <a:t> </a:t>
            </a:r>
            <a:r>
              <a:rPr spc="-95" dirty="0"/>
              <a:t>farming</a:t>
            </a:r>
            <a:r>
              <a:rPr spc="-275" dirty="0"/>
              <a:t> </a:t>
            </a:r>
            <a:r>
              <a:rPr spc="-60" dirty="0"/>
              <a:t>practices.</a:t>
            </a:r>
            <a:r>
              <a:rPr spc="-270" dirty="0"/>
              <a:t> </a:t>
            </a:r>
            <a:r>
              <a:rPr sz="3400" spc="1680" dirty="0">
                <a:latin typeface="Courier New"/>
                <a:cs typeface="Courier New"/>
              </a:rPr>
              <a:t>🌾</a:t>
            </a:r>
            <a:endParaRPr sz="3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9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10286999"/>
                </a:lnTo>
                <a:close/>
              </a:path>
            </a:pathLst>
          </a:custGeom>
          <a:solidFill>
            <a:srgbClr val="B4B4B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81" y="2107557"/>
            <a:ext cx="4933949" cy="65817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23494" y="2963926"/>
            <a:ext cx="6496049" cy="48672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10049" y="2107557"/>
            <a:ext cx="4933949" cy="658177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638274" y="397561"/>
            <a:ext cx="51631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80" dirty="0">
                <a:latin typeface="Arial Black"/>
                <a:cs typeface="Arial Black"/>
              </a:rPr>
              <a:t>Geo-</a:t>
            </a:r>
            <a:r>
              <a:rPr sz="4200" spc="-330" dirty="0">
                <a:latin typeface="Arial Black"/>
                <a:cs typeface="Arial Black"/>
              </a:rPr>
              <a:t>tagged</a:t>
            </a:r>
            <a:r>
              <a:rPr sz="4200" spc="-400" dirty="0">
                <a:latin typeface="Arial Black"/>
                <a:cs typeface="Arial Black"/>
              </a:rPr>
              <a:t> </a:t>
            </a:r>
            <a:r>
              <a:rPr sz="4200" spc="-265" dirty="0">
                <a:latin typeface="Arial Black"/>
                <a:cs typeface="Arial Black"/>
              </a:rPr>
              <a:t>Photos:</a:t>
            </a:r>
            <a:endParaRPr sz="4200">
              <a:latin typeface="Arial Black"/>
              <a:cs typeface="Arial Black"/>
            </a:endParaRPr>
          </a:p>
        </p:txBody>
      </p:sp>
      <p:pic>
        <p:nvPicPr>
          <p:cNvPr id="7" name="object 4">
            <a:extLst>
              <a:ext uri="{FF2B5EF4-FFF2-40B4-BE49-F238E27FC236}">
                <a16:creationId xmlns:a16="http://schemas.microsoft.com/office/drawing/2014/main" id="{0ACE1DD1-D54D-0F10-1ECD-0B1EC09F80BE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66379"/>
            <a:ext cx="2971800" cy="19747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6999"/>
                </a:lnTo>
                <a:close/>
              </a:path>
            </a:pathLst>
          </a:custGeom>
          <a:solidFill>
            <a:srgbClr val="C7CB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4135" y="1729285"/>
            <a:ext cx="5286359" cy="70484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21092" y="1729285"/>
            <a:ext cx="5286359" cy="70484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5813" y="1729285"/>
            <a:ext cx="5286359" cy="7048496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F4FE175D-A824-64B0-A6B5-DB371913A86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400" y="38100"/>
            <a:ext cx="3336747" cy="15750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70422" y="3438297"/>
            <a:ext cx="13147040" cy="2782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8050" spc="-570" dirty="0">
                <a:solidFill>
                  <a:srgbClr val="FFFFFF"/>
                </a:solidFill>
                <a:latin typeface="Arial Black"/>
                <a:cs typeface="Arial Black"/>
              </a:rPr>
              <a:t>Thank</a:t>
            </a:r>
            <a:r>
              <a:rPr sz="18050" spc="-219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8050" spc="-880" dirty="0">
                <a:solidFill>
                  <a:srgbClr val="FFFFFF"/>
                </a:solidFill>
                <a:latin typeface="Arial Black"/>
                <a:cs typeface="Arial Black"/>
              </a:rPr>
              <a:t>You.</a:t>
            </a:r>
            <a:endParaRPr sz="18050">
              <a:latin typeface="Arial Black"/>
              <a:cs typeface="Arial Black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57724CD-F15E-D497-D31A-2020E75DDA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3253" y="368091"/>
            <a:ext cx="4403547" cy="23370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1021</Words>
  <Application>Microsoft Office PowerPoint</Application>
  <PresentationFormat>Custom</PresentationFormat>
  <Paragraphs>118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 Black</vt:lpstr>
      <vt:lpstr>Artifakt Element Black</vt:lpstr>
      <vt:lpstr>Courier New</vt:lpstr>
      <vt:lpstr>Verdana</vt:lpstr>
      <vt:lpstr>Office Theme</vt:lpstr>
      <vt:lpstr>M. Keerthi Sri  2520030079 Cluster:1 Section:4</vt:lpstr>
      <vt:lpstr>Abstract:</vt:lpstr>
      <vt:lpstr>PowerPoint Presentation</vt:lpstr>
      <vt:lpstr>Proposed System:</vt:lpstr>
      <vt:lpstr>System Architecture diagram:</vt:lpstr>
      <vt:lpstr>Project Modules:</vt:lpstr>
      <vt:lpstr>PowerPoint Presentation</vt:lpstr>
      <vt:lpstr>Objectives of the Project :</vt:lpstr>
      <vt:lpstr>FWD CO’S ATTAINMENT:</vt:lpstr>
      <vt:lpstr>PowerPoint Presentation</vt:lpstr>
      <vt:lpstr>PowerPoint Presentation</vt:lpstr>
      <vt:lpstr>Conclusion:</vt:lpstr>
      <vt:lpstr>Geo-tagged Photos: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Name: M. Keerthi Sri Student ID: 2520030079 Cluster: 1 Section: 03</dc:title>
  <dc:creator>Keerthi Sri Mandapati</dc:creator>
  <cp:keywords>DAHDbJvvrUQ,BAGzBXALjl4,0</cp:keywords>
  <cp:lastModifiedBy>Mandapati Keerthi Sri</cp:lastModifiedBy>
  <cp:revision>2</cp:revision>
  <dcterms:created xsi:type="dcterms:W3CDTF">2026-03-09T07:38:47Z</dcterms:created>
  <dcterms:modified xsi:type="dcterms:W3CDTF">2026-03-09T07:55:41Z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2026-03-09T00:00:00Z</vt:filetime>
  </property>
  <property fmtid="{D5CDD505-2E9C-101B-9397-08002B2CF9AE}" pid="5" name="Producer">
    <vt:lpwstr>iLovePDF</vt:lpwstr>
  </property>
</Properties>
</file>